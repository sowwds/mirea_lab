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8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1695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 /><Relationship Id="rId20" Type="http://schemas.openxmlformats.org/officeDocument/2006/relationships/tableStyles" Target="tableStyles.xml" /><Relationship Id="rId21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628743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80969201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7863302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0330412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11597344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29937395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91621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7900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9956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5C6F1A-B0CD-44F5-4C30-3E418EB43B1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20733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03007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5452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FFF801-273F-C79A-4D57-12F887CCE71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44471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01628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52431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02D216-E8CE-5411-B17A-164CFD1BC11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7746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65929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78245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A709DFA-1B21-EF0B-5D21-B5A58D0350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6739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79929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62245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699932-EAF3-76B7-33F0-F686E295DDA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8059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375235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4086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B7AAD5-4FF6-7D93-603F-AED99796FF4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75117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13765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7808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E80E52-C954-A6AD-610E-09166E6031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89784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50417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10801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61A8BC-956F-E4CE-89E6-A4359D049EF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24048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97157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4301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C9C6C2A-97EF-12E5-2E52-A1E4BB7C1DC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13928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3228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3748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70366C-C058-83F0-C228-873B414573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04942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52719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25326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C26066-BDF8-BED2-DEDF-EEFFE4C276A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17292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74340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55798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226AFF4-CC92-EDDD-F61E-3182D180444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74244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6628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34171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13162F-9322-97E1-14A2-0B3EBCB8CA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09935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68558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47032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A7F16E-2DDB-CF97-7CA5-2461DD9A85E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4780870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72860694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72218887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5021559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7442346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82715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2952681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7997224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21948332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6829089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581580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4907033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6519648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04874926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0662361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156341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1654323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299717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9382340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67251222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6566660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642835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0947320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8619494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55980427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4980227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55301758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57729991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780617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451911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18101905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756359211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235731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596003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540445800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8919181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6730532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3110112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3330432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7631677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21197290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7051420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5031942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7979952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20830638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2469171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55973909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58774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75720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6180680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5816017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86289548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7984004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271876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0338008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9397881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60385574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344750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928854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7699271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67760112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594702610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66022817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0033685" name="Picture 1" descr="exampleimage2.jp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406746870" name="Rectangle 2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50716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05128950" name="TextBox 3"/>
          <p:cNvSpPr txBox="1"/>
          <p:nvPr/>
        </p:nvSpPr>
        <p:spPr bwMode="auto">
          <a:xfrm>
            <a:off x="658368" y="411480"/>
            <a:ext cx="804672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2800" b="1">
                <a:solidFill>
                  <a:srgbClr val="F5F8FF"/>
                </a:solidFill>
                <a:latin typeface="Aptos"/>
              </a:rPr>
              <a:t>Serenity</a:t>
            </a:r>
            <a:endParaRPr/>
          </a:p>
        </p:txBody>
      </p:sp>
      <p:sp>
        <p:nvSpPr>
          <p:cNvPr id="1637397816" name="TextBox 4"/>
          <p:cNvSpPr txBox="1"/>
          <p:nvPr/>
        </p:nvSpPr>
        <p:spPr bwMode="auto">
          <a:xfrm>
            <a:off x="685800" y="987552"/>
            <a:ext cx="8595360" cy="3291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60A5FA"/>
                </a:solidFill>
                <a:latin typeface="Aptos"/>
              </a:rPr>
              <a:t>AI-сервис для анонимной эмоциональной поддержки и самопонимания</a:t>
            </a:r>
            <a:endParaRPr/>
          </a:p>
        </p:txBody>
      </p:sp>
      <p:sp>
        <p:nvSpPr>
          <p:cNvPr id="626912391" name="TextBox 5"/>
          <p:cNvSpPr txBox="1"/>
          <p:nvPr/>
        </p:nvSpPr>
        <p:spPr bwMode="auto">
          <a:xfrm>
            <a:off x="658368" y="6419088"/>
            <a:ext cx="137160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800" b="1">
                <a:solidFill>
                  <a:srgbClr val="ACB8D6"/>
                </a:solidFill>
                <a:latin typeface="Aptos"/>
              </a:rPr>
              <a:t>SERENITY</a:t>
            </a:r>
            <a:endParaRPr/>
          </a:p>
        </p:txBody>
      </p:sp>
      <p:sp>
        <p:nvSpPr>
          <p:cNvPr id="1529517988" name="TextBox 6"/>
          <p:cNvSpPr txBox="1"/>
          <p:nvPr/>
        </p:nvSpPr>
        <p:spPr bwMode="auto">
          <a:xfrm>
            <a:off x="11082528" y="6400800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defRPr/>
            </a:pPr>
            <a:r>
              <a:rPr sz="800" b="0">
                <a:solidFill>
                  <a:srgbClr val="ACB8D6"/>
                </a:solidFill>
                <a:latin typeface="Aptos"/>
              </a:rPr>
              <a:t>01</a:t>
            </a:r>
            <a:endParaRPr/>
          </a:p>
        </p:txBody>
      </p:sp>
      <p:sp>
        <p:nvSpPr>
          <p:cNvPr id="1135679712" name="TextBox 7"/>
          <p:cNvSpPr txBox="1"/>
          <p:nvPr/>
        </p:nvSpPr>
        <p:spPr bwMode="auto">
          <a:xfrm>
            <a:off x="731520" y="1644415"/>
            <a:ext cx="5760720" cy="9601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3300" b="1">
                <a:solidFill>
                  <a:srgbClr val="F5F8FF"/>
                </a:solidFill>
                <a:latin typeface="Aptos"/>
              </a:rPr>
              <a:t>Понимание себя начинается здесь</a:t>
            </a:r>
            <a:endParaRPr/>
          </a:p>
        </p:txBody>
      </p:sp>
      <p:sp>
        <p:nvSpPr>
          <p:cNvPr id="151625318" name="TextBox 8"/>
          <p:cNvSpPr txBox="1"/>
          <p:nvPr/>
        </p:nvSpPr>
        <p:spPr bwMode="auto">
          <a:xfrm>
            <a:off x="777240" y="2816352"/>
            <a:ext cx="5715000" cy="8412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1500" b="0">
                <a:solidFill>
                  <a:srgbClr val="ACB8D6"/>
                </a:solidFill>
                <a:latin typeface="Aptos"/>
              </a:rPr>
              <a:t>Serenity помогает пользователю поговорить о сложном, увидеть динамику эмоций и заметить повторяющиеся паттерны без страха осуждения.</a:t>
            </a:r>
            <a:endParaRPr/>
          </a:p>
        </p:txBody>
      </p:sp>
      <p:sp>
        <p:nvSpPr>
          <p:cNvPr id="1352257008" name="Rounded Rectangle 9"/>
          <p:cNvSpPr/>
          <p:nvPr/>
        </p:nvSpPr>
        <p:spPr bwMode="auto">
          <a:xfrm flipH="0" flipV="0">
            <a:off x="822960" y="4160519"/>
            <a:ext cx="1828800" cy="1075196"/>
          </a:xfrm>
          <a:prstGeom prst="roundRect">
            <a:avLst>
              <a:gd name="adj" fmla="val 16667"/>
            </a:avLst>
          </a:prstGeom>
          <a:solidFill>
            <a:srgbClr val="161E42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12173789" name="TextBox 10"/>
          <p:cNvSpPr txBox="1"/>
          <p:nvPr/>
        </p:nvSpPr>
        <p:spPr bwMode="auto">
          <a:xfrm>
            <a:off x="987552" y="4288536"/>
            <a:ext cx="1499616" cy="3291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2000" b="1">
                <a:solidFill>
                  <a:srgbClr val="F5F8FF"/>
                </a:solidFill>
                <a:latin typeface="Aptos"/>
              </a:rPr>
              <a:t>24/7</a:t>
            </a:r>
            <a:endParaRPr/>
          </a:p>
        </p:txBody>
      </p:sp>
      <p:sp>
        <p:nvSpPr>
          <p:cNvPr id="521068678" name="TextBox 11"/>
          <p:cNvSpPr txBox="1"/>
          <p:nvPr/>
        </p:nvSpPr>
        <p:spPr bwMode="auto">
          <a:xfrm>
            <a:off x="987552" y="4663440"/>
            <a:ext cx="1499616" cy="2103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900" b="1">
                <a:solidFill>
                  <a:srgbClr val="22D3EE"/>
                </a:solidFill>
                <a:latin typeface="Aptos"/>
              </a:rPr>
              <a:t>доступ</a:t>
            </a:r>
            <a:endParaRPr/>
          </a:p>
        </p:txBody>
      </p:sp>
      <p:sp>
        <p:nvSpPr>
          <p:cNvPr id="1064947027" name="TextBox 12"/>
          <p:cNvSpPr txBox="1"/>
          <p:nvPr/>
        </p:nvSpPr>
        <p:spPr bwMode="auto">
          <a:xfrm>
            <a:off x="987552" y="4910328"/>
            <a:ext cx="1499616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800" b="0">
                <a:solidFill>
                  <a:srgbClr val="ACB8D6"/>
                </a:solidFill>
                <a:latin typeface="Aptos"/>
              </a:rPr>
              <a:t>диалог в любой момент</a:t>
            </a:r>
            <a:endParaRPr/>
          </a:p>
        </p:txBody>
      </p:sp>
      <p:sp>
        <p:nvSpPr>
          <p:cNvPr id="504186163" name="Rounded Rectangle 13"/>
          <p:cNvSpPr/>
          <p:nvPr/>
        </p:nvSpPr>
        <p:spPr bwMode="auto">
          <a:xfrm flipH="0" flipV="0">
            <a:off x="2880360" y="4160519"/>
            <a:ext cx="2011680" cy="1075196"/>
          </a:xfrm>
          <a:prstGeom prst="roundRect">
            <a:avLst>
              <a:gd name="adj" fmla="val 16667"/>
            </a:avLst>
          </a:prstGeom>
          <a:solidFill>
            <a:srgbClr val="161E42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441369" name="TextBox 14"/>
          <p:cNvSpPr txBox="1"/>
          <p:nvPr/>
        </p:nvSpPr>
        <p:spPr bwMode="auto">
          <a:xfrm>
            <a:off x="3044952" y="4288536"/>
            <a:ext cx="1682496" cy="3291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2000" b="1">
                <a:solidFill>
                  <a:srgbClr val="F5F8FF"/>
                </a:solidFill>
                <a:latin typeface="Aptos"/>
              </a:rPr>
              <a:t>AI</a:t>
            </a:r>
            <a:endParaRPr/>
          </a:p>
        </p:txBody>
      </p:sp>
      <p:sp>
        <p:nvSpPr>
          <p:cNvPr id="1479918997" name="TextBox 15"/>
          <p:cNvSpPr txBox="1"/>
          <p:nvPr/>
        </p:nvSpPr>
        <p:spPr bwMode="auto">
          <a:xfrm>
            <a:off x="3044952" y="4663440"/>
            <a:ext cx="1682496" cy="2103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900" b="1">
                <a:solidFill>
                  <a:srgbClr val="A78BFA"/>
                </a:solidFill>
                <a:latin typeface="Aptos"/>
              </a:rPr>
              <a:t>модель</a:t>
            </a:r>
            <a:endParaRPr/>
          </a:p>
        </p:txBody>
      </p:sp>
      <p:sp>
        <p:nvSpPr>
          <p:cNvPr id="486187049" name="TextBox 16"/>
          <p:cNvSpPr txBox="1"/>
          <p:nvPr/>
        </p:nvSpPr>
        <p:spPr bwMode="auto">
          <a:xfrm>
            <a:off x="3044952" y="4910328"/>
            <a:ext cx="1682496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800" b="0">
                <a:solidFill>
                  <a:srgbClr val="ACB8D6"/>
                </a:solidFill>
                <a:latin typeface="Aptos"/>
              </a:rPr>
              <a:t>чат + аналитика эмоций</a:t>
            </a:r>
            <a:endParaRPr/>
          </a:p>
        </p:txBody>
      </p:sp>
      <p:sp>
        <p:nvSpPr>
          <p:cNvPr id="828827636" name="Rounded Rectangle 17"/>
          <p:cNvSpPr/>
          <p:nvPr/>
        </p:nvSpPr>
        <p:spPr bwMode="auto">
          <a:xfrm flipH="0" flipV="0">
            <a:off x="5120640" y="4160519"/>
            <a:ext cx="2011680" cy="1075196"/>
          </a:xfrm>
          <a:prstGeom prst="roundRect">
            <a:avLst>
              <a:gd name="adj" fmla="val 16667"/>
            </a:avLst>
          </a:prstGeom>
          <a:solidFill>
            <a:srgbClr val="161E42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26266299" name="TextBox 18"/>
          <p:cNvSpPr txBox="1"/>
          <p:nvPr/>
        </p:nvSpPr>
        <p:spPr bwMode="auto">
          <a:xfrm>
            <a:off x="5285231" y="4288536"/>
            <a:ext cx="1682496" cy="3291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2000" b="1">
                <a:solidFill>
                  <a:srgbClr val="F5F8FF"/>
                </a:solidFill>
                <a:latin typeface="Aptos"/>
              </a:rPr>
              <a:t>Web MVP</a:t>
            </a:r>
            <a:endParaRPr/>
          </a:p>
        </p:txBody>
      </p:sp>
      <p:sp>
        <p:nvSpPr>
          <p:cNvPr id="1920749181" name="TextBox 19"/>
          <p:cNvSpPr txBox="1"/>
          <p:nvPr/>
        </p:nvSpPr>
        <p:spPr bwMode="auto">
          <a:xfrm>
            <a:off x="5285231" y="4663440"/>
            <a:ext cx="1682496" cy="2103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900" b="1">
                <a:solidFill>
                  <a:srgbClr val="4ADE80"/>
                </a:solidFill>
                <a:latin typeface="Aptos"/>
              </a:rPr>
              <a:t>формат</a:t>
            </a:r>
            <a:endParaRPr/>
          </a:p>
        </p:txBody>
      </p:sp>
      <p:sp>
        <p:nvSpPr>
          <p:cNvPr id="1991544689" name="TextBox 20"/>
          <p:cNvSpPr txBox="1"/>
          <p:nvPr/>
        </p:nvSpPr>
        <p:spPr bwMode="auto">
          <a:xfrm>
            <a:off x="5285230" y="4910328"/>
            <a:ext cx="1682855" cy="3295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6090746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507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5058591" name="TextBox 2"/>
          <p:cNvSpPr txBox="1"/>
          <p:nvPr/>
        </p:nvSpPr>
        <p:spPr bwMode="auto">
          <a:xfrm>
            <a:off x="658368" y="411480"/>
            <a:ext cx="804672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2800" b="1">
                <a:solidFill>
                  <a:srgbClr val="F5F8FF"/>
                </a:solidFill>
                <a:latin typeface="Aptos"/>
              </a:rPr>
              <a:t>Почему рынок готов сейчас</a:t>
            </a:r>
            <a:endParaRPr/>
          </a:p>
        </p:txBody>
      </p:sp>
      <p:sp>
        <p:nvSpPr>
          <p:cNvPr id="1428190781" name="TextBox 3"/>
          <p:cNvSpPr txBox="1"/>
          <p:nvPr/>
        </p:nvSpPr>
        <p:spPr bwMode="auto">
          <a:xfrm>
            <a:off x="685800" y="987552"/>
            <a:ext cx="8595360" cy="3291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60A5FA"/>
                </a:solidFill>
                <a:latin typeface="Aptos"/>
              </a:rPr>
              <a:t>Спрос на поддержку растет, а AI снижает порог входа</a:t>
            </a:r>
            <a:endParaRPr/>
          </a:p>
        </p:txBody>
      </p:sp>
      <p:sp>
        <p:nvSpPr>
          <p:cNvPr id="1836299646" name="TextBox 4"/>
          <p:cNvSpPr txBox="1"/>
          <p:nvPr/>
        </p:nvSpPr>
        <p:spPr bwMode="auto">
          <a:xfrm>
            <a:off x="658368" y="6419088"/>
            <a:ext cx="137160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800" b="1">
                <a:solidFill>
                  <a:srgbClr val="ACB8D6"/>
                </a:solidFill>
                <a:latin typeface="Aptos"/>
              </a:rPr>
              <a:t>SERENITY</a:t>
            </a:r>
            <a:endParaRPr/>
          </a:p>
        </p:txBody>
      </p:sp>
      <p:sp>
        <p:nvSpPr>
          <p:cNvPr id="1476782663" name="TextBox 5"/>
          <p:cNvSpPr txBox="1"/>
          <p:nvPr/>
        </p:nvSpPr>
        <p:spPr bwMode="auto">
          <a:xfrm>
            <a:off x="11082528" y="6400800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defRPr/>
            </a:pPr>
            <a:r>
              <a:rPr sz="800" b="0">
                <a:solidFill>
                  <a:srgbClr val="ACB8D6"/>
                </a:solidFill>
                <a:latin typeface="Aptos"/>
              </a:rPr>
              <a:t>02</a:t>
            </a:r>
            <a:endParaRPr/>
          </a:p>
        </p:txBody>
      </p:sp>
      <p:sp>
        <p:nvSpPr>
          <p:cNvPr id="1898459529" name="Rounded Rectangle 6"/>
          <p:cNvSpPr/>
          <p:nvPr/>
        </p:nvSpPr>
        <p:spPr bwMode="auto">
          <a:xfrm>
            <a:off x="731520" y="1600200"/>
            <a:ext cx="3291840" cy="1874519"/>
          </a:xfrm>
          <a:prstGeom prst="roundRect">
            <a:avLst>
              <a:gd name="adj" fmla="val 16667"/>
            </a:avLst>
          </a:prstGeom>
          <a:solidFill>
            <a:srgbClr val="101630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30643059" name="TextBox 7"/>
          <p:cNvSpPr txBox="1"/>
          <p:nvPr/>
        </p:nvSpPr>
        <p:spPr bwMode="auto">
          <a:xfrm>
            <a:off x="932688" y="1764792"/>
            <a:ext cx="2889504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1500" b="1">
                <a:solidFill>
                  <a:srgbClr val="F5F8FF"/>
                </a:solidFill>
                <a:latin typeface="Aptos"/>
              </a:rPr>
              <a:t>Одиночество</a:t>
            </a:r>
            <a:endParaRPr/>
          </a:p>
        </p:txBody>
      </p:sp>
      <p:sp>
        <p:nvSpPr>
          <p:cNvPr id="1030941374" name="TextBox 8"/>
          <p:cNvSpPr txBox="1"/>
          <p:nvPr/>
        </p:nvSpPr>
        <p:spPr bwMode="auto">
          <a:xfrm>
            <a:off x="932688" y="2130552"/>
            <a:ext cx="2889504" cy="121615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ACB8D6"/>
                </a:solidFill>
                <a:latin typeface="Aptos"/>
              </a:rPr>
              <a:t>37% россиян 18-24 лет говорят об одиночестве. Доля домохозяйств из одного человека превысила 40%.</a:t>
            </a:r>
            <a:endParaRPr/>
          </a:p>
        </p:txBody>
      </p:sp>
      <p:sp>
        <p:nvSpPr>
          <p:cNvPr id="1974118546" name="Rounded Rectangle 9"/>
          <p:cNvSpPr/>
          <p:nvPr/>
        </p:nvSpPr>
        <p:spPr bwMode="auto">
          <a:xfrm>
            <a:off x="4434840" y="1600200"/>
            <a:ext cx="3291840" cy="1874519"/>
          </a:xfrm>
          <a:prstGeom prst="roundRect">
            <a:avLst>
              <a:gd name="adj" fmla="val 16667"/>
            </a:avLst>
          </a:prstGeom>
          <a:solidFill>
            <a:srgbClr val="101630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1378589" name="TextBox 10"/>
          <p:cNvSpPr txBox="1"/>
          <p:nvPr/>
        </p:nvSpPr>
        <p:spPr bwMode="auto">
          <a:xfrm>
            <a:off x="4636007" y="1764792"/>
            <a:ext cx="2889504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1500" b="1">
                <a:solidFill>
                  <a:srgbClr val="F5F8FF"/>
                </a:solidFill>
                <a:latin typeface="Aptos"/>
              </a:rPr>
              <a:t>Ментальное здоровье</a:t>
            </a:r>
            <a:endParaRPr/>
          </a:p>
        </p:txBody>
      </p:sp>
      <p:sp>
        <p:nvSpPr>
          <p:cNvPr id="1434927719" name="TextBox 11"/>
          <p:cNvSpPr txBox="1"/>
          <p:nvPr/>
        </p:nvSpPr>
        <p:spPr bwMode="auto">
          <a:xfrm>
            <a:off x="4636007" y="2130552"/>
            <a:ext cx="2889504" cy="121615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ACB8D6"/>
                </a:solidFill>
                <a:latin typeface="Aptos"/>
              </a:rPr>
              <a:t>Рынок психологических услуг в РФ достиг 125 млрд ₽ в 2024 году и растет на 25% в год. Обращения к психологам выросли на 60%.</a:t>
            </a:r>
            <a:endParaRPr/>
          </a:p>
        </p:txBody>
      </p:sp>
      <p:sp>
        <p:nvSpPr>
          <p:cNvPr id="933933014" name="Rounded Rectangle 12"/>
          <p:cNvSpPr/>
          <p:nvPr/>
        </p:nvSpPr>
        <p:spPr bwMode="auto">
          <a:xfrm>
            <a:off x="8138160" y="1600200"/>
            <a:ext cx="3291840" cy="1874519"/>
          </a:xfrm>
          <a:prstGeom prst="roundRect">
            <a:avLst>
              <a:gd name="adj" fmla="val 16667"/>
            </a:avLst>
          </a:prstGeom>
          <a:solidFill>
            <a:srgbClr val="101630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54657046" name="TextBox 13"/>
          <p:cNvSpPr txBox="1"/>
          <p:nvPr/>
        </p:nvSpPr>
        <p:spPr bwMode="auto">
          <a:xfrm>
            <a:off x="8339328" y="1764792"/>
            <a:ext cx="2889504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1500" b="1">
                <a:solidFill>
                  <a:srgbClr val="F5F8FF"/>
                </a:solidFill>
                <a:latin typeface="Aptos"/>
              </a:rPr>
              <a:t>AI как интерфейс</a:t>
            </a:r>
            <a:endParaRPr/>
          </a:p>
        </p:txBody>
      </p:sp>
      <p:sp>
        <p:nvSpPr>
          <p:cNvPr id="1954484111" name="TextBox 14"/>
          <p:cNvSpPr txBox="1"/>
          <p:nvPr/>
        </p:nvSpPr>
        <p:spPr bwMode="auto">
          <a:xfrm>
            <a:off x="8339328" y="2130552"/>
            <a:ext cx="2889504" cy="121615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ACB8D6"/>
                </a:solidFill>
                <a:latin typeface="Aptos"/>
              </a:rPr>
              <a:t>LLM стали достаточно сильными для поддерживающего диалога, рефлексии и персональных подсказок в цифровом продукте.</a:t>
            </a:r>
            <a:endParaRPr/>
          </a:p>
        </p:txBody>
      </p:sp>
      <p:sp>
        <p:nvSpPr>
          <p:cNvPr id="1417061529" name="TextBox 15"/>
          <p:cNvSpPr txBox="1"/>
          <p:nvPr/>
        </p:nvSpPr>
        <p:spPr bwMode="auto">
          <a:xfrm>
            <a:off x="914400" y="4069080"/>
            <a:ext cx="10058400" cy="11887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rPr/>
              <a:t>Окно возможности: пользователь уже ищет помощь онлайн.</a:t>
            </a:r>
            <a:endParaRPr/>
          </a:p>
          <a:p>
            <a:pPr>
              <a:spcAft>
                <a:spcPts val="7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rPr/>
              <a:t>Психолог остается важным специалистом, но многим нужен первый безопасный шаг.</a:t>
            </a:r>
            <a:endParaRPr/>
          </a:p>
          <a:p>
            <a:pPr>
              <a:spcAft>
                <a:spcPts val="7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rPr/>
              <a:t>Serenity занимает нишу между дневником, AI-чатом и эмоциональной аналитикой.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9423067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507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9258974" name="TextBox 2"/>
          <p:cNvSpPr txBox="1"/>
          <p:nvPr/>
        </p:nvSpPr>
        <p:spPr bwMode="auto">
          <a:xfrm>
            <a:off x="658368" y="411480"/>
            <a:ext cx="804672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2800" b="1">
                <a:solidFill>
                  <a:srgbClr val="F5F8FF"/>
                </a:solidFill>
                <a:latin typeface="Aptos"/>
              </a:rPr>
              <a:t>Три основные боли</a:t>
            </a:r>
            <a:endParaRPr/>
          </a:p>
        </p:txBody>
      </p:sp>
      <p:sp>
        <p:nvSpPr>
          <p:cNvPr id="1473861677" name="TextBox 4"/>
          <p:cNvSpPr txBox="1"/>
          <p:nvPr/>
        </p:nvSpPr>
        <p:spPr bwMode="auto">
          <a:xfrm>
            <a:off x="658368" y="6419088"/>
            <a:ext cx="137160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800" b="1">
                <a:solidFill>
                  <a:srgbClr val="ACB8D6"/>
                </a:solidFill>
                <a:latin typeface="Aptos"/>
              </a:rPr>
              <a:t>SERENITY</a:t>
            </a:r>
            <a:endParaRPr/>
          </a:p>
        </p:txBody>
      </p:sp>
      <p:sp>
        <p:nvSpPr>
          <p:cNvPr id="760403019" name="TextBox 5"/>
          <p:cNvSpPr txBox="1"/>
          <p:nvPr/>
        </p:nvSpPr>
        <p:spPr bwMode="auto">
          <a:xfrm>
            <a:off x="11082528" y="6400800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defRPr/>
            </a:pPr>
            <a:r>
              <a:rPr sz="800" b="0">
                <a:solidFill>
                  <a:srgbClr val="ACB8D6"/>
                </a:solidFill>
                <a:latin typeface="Aptos"/>
              </a:rPr>
              <a:t>03</a:t>
            </a:r>
            <a:endParaRPr/>
          </a:p>
        </p:txBody>
      </p:sp>
      <p:sp>
        <p:nvSpPr>
          <p:cNvPr id="686983992" name="Rounded Rectangle 6"/>
          <p:cNvSpPr/>
          <p:nvPr/>
        </p:nvSpPr>
        <p:spPr bwMode="auto">
          <a:xfrm flipH="0" flipV="0">
            <a:off x="937259" y="1487063"/>
            <a:ext cx="3154680" cy="2743200"/>
          </a:xfrm>
          <a:prstGeom prst="roundRect">
            <a:avLst>
              <a:gd name="adj" fmla="val 16667"/>
            </a:avLst>
          </a:prstGeom>
          <a:solidFill>
            <a:srgbClr val="101630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88211577" name="TextBox 7"/>
          <p:cNvSpPr txBox="1"/>
          <p:nvPr/>
        </p:nvSpPr>
        <p:spPr bwMode="auto">
          <a:xfrm>
            <a:off x="1129215" y="1810510"/>
            <a:ext cx="3118104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1500" b="1">
                <a:solidFill>
                  <a:srgbClr val="F5F8FF"/>
                </a:solidFill>
                <a:latin typeface="Aptos"/>
              </a:rPr>
              <a:t>Боль высказывания</a:t>
            </a:r>
            <a:endParaRPr/>
          </a:p>
        </p:txBody>
      </p:sp>
      <p:sp>
        <p:nvSpPr>
          <p:cNvPr id="1806019497" name="TextBox 8"/>
          <p:cNvSpPr txBox="1"/>
          <p:nvPr/>
        </p:nvSpPr>
        <p:spPr bwMode="auto">
          <a:xfrm flipH="0" flipV="0">
            <a:off x="1129215" y="2176272"/>
            <a:ext cx="2528359" cy="89342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ACB8D6"/>
                </a:solidFill>
                <a:latin typeface="Aptos"/>
              </a:rPr>
              <a:t>«Не с кем поговорить честно: близкие осудят, друзья начнут советовать». </a:t>
            </a:r>
            <a:endParaRPr sz="1100" b="0">
              <a:solidFill>
                <a:srgbClr val="ACB8D6"/>
              </a:solidFill>
              <a:latin typeface="Aptos"/>
            </a:endParaRPr>
          </a:p>
          <a:p>
            <a:pPr algn="l">
              <a:defRPr/>
            </a:pPr>
            <a:r>
              <a:rPr sz="1100" b="0">
                <a:solidFill>
                  <a:srgbClr val="ACB8D6"/>
                </a:solidFill>
                <a:latin typeface="Aptos"/>
              </a:rPr>
              <a:t>Ответ Serenity: безопасный AI-диалог без давления.</a:t>
            </a:r>
            <a:endParaRPr/>
          </a:p>
        </p:txBody>
      </p:sp>
      <p:sp>
        <p:nvSpPr>
          <p:cNvPr id="1248021723" name="Rounded Rectangle 9"/>
          <p:cNvSpPr/>
          <p:nvPr/>
        </p:nvSpPr>
        <p:spPr bwMode="auto">
          <a:xfrm flipH="0" flipV="0">
            <a:off x="4549139" y="1487063"/>
            <a:ext cx="3154680" cy="2743200"/>
          </a:xfrm>
          <a:prstGeom prst="roundRect">
            <a:avLst>
              <a:gd name="adj" fmla="val 16667"/>
            </a:avLst>
          </a:prstGeom>
          <a:solidFill>
            <a:srgbClr val="101630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36181757" name="TextBox 10"/>
          <p:cNvSpPr txBox="1"/>
          <p:nvPr/>
        </p:nvSpPr>
        <p:spPr bwMode="auto">
          <a:xfrm>
            <a:off x="4741095" y="1810510"/>
            <a:ext cx="3118104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1500" b="1">
                <a:solidFill>
                  <a:srgbClr val="F5F8FF"/>
                </a:solidFill>
                <a:latin typeface="Aptos"/>
              </a:rPr>
              <a:t>Боль самопонимания</a:t>
            </a:r>
            <a:endParaRPr/>
          </a:p>
        </p:txBody>
      </p:sp>
      <p:sp>
        <p:nvSpPr>
          <p:cNvPr id="925396105" name="TextBox 11"/>
          <p:cNvSpPr txBox="1"/>
          <p:nvPr/>
        </p:nvSpPr>
        <p:spPr bwMode="auto">
          <a:xfrm flipH="0" flipV="0">
            <a:off x="4741095" y="2154575"/>
            <a:ext cx="2963084" cy="72578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ACB8D6"/>
                </a:solidFill>
                <a:latin typeface="Aptos"/>
              </a:rPr>
              <a:t>«Эмоции выглядят как хаос, я не понимаю свои реакции». </a:t>
            </a:r>
            <a:endParaRPr sz="1100" b="0">
              <a:solidFill>
                <a:srgbClr val="ACB8D6"/>
              </a:solidFill>
              <a:latin typeface="Aptos"/>
            </a:endParaRPr>
          </a:p>
          <a:p>
            <a:pPr algn="l">
              <a:defRPr/>
            </a:pPr>
            <a:r>
              <a:rPr sz="1100" b="0">
                <a:solidFill>
                  <a:srgbClr val="ACB8D6"/>
                </a:solidFill>
                <a:latin typeface="Aptos"/>
              </a:rPr>
              <a:t>Ответ Serenity: эмоциональный профиль и динамика по периодам.</a:t>
            </a:r>
            <a:endParaRPr/>
          </a:p>
        </p:txBody>
      </p:sp>
      <p:sp>
        <p:nvSpPr>
          <p:cNvPr id="1708177107" name="Rounded Rectangle 12"/>
          <p:cNvSpPr/>
          <p:nvPr/>
        </p:nvSpPr>
        <p:spPr bwMode="auto">
          <a:xfrm flipH="0" flipV="0">
            <a:off x="8161018" y="1487063"/>
            <a:ext cx="3154680" cy="2743200"/>
          </a:xfrm>
          <a:prstGeom prst="roundRect">
            <a:avLst>
              <a:gd name="adj" fmla="val 16667"/>
            </a:avLst>
          </a:prstGeom>
          <a:solidFill>
            <a:srgbClr val="101630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63516754" name="TextBox 13"/>
          <p:cNvSpPr txBox="1"/>
          <p:nvPr/>
        </p:nvSpPr>
        <p:spPr bwMode="auto">
          <a:xfrm>
            <a:off x="8352975" y="1788814"/>
            <a:ext cx="3118104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1500" b="1">
                <a:solidFill>
                  <a:srgbClr val="F5F8FF"/>
                </a:solidFill>
                <a:latin typeface="Aptos"/>
              </a:rPr>
              <a:t>Боль скрытых причин</a:t>
            </a:r>
            <a:endParaRPr/>
          </a:p>
        </p:txBody>
      </p:sp>
      <p:sp>
        <p:nvSpPr>
          <p:cNvPr id="1123982173" name="TextBox 14"/>
          <p:cNvSpPr txBox="1"/>
          <p:nvPr/>
        </p:nvSpPr>
        <p:spPr bwMode="auto">
          <a:xfrm flipH="0" flipV="0">
            <a:off x="8352975" y="2154575"/>
            <a:ext cx="2963084" cy="72578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ACB8D6"/>
                </a:solidFill>
                <a:latin typeface="Aptos"/>
              </a:rPr>
              <a:t>«Я повторяю один сценарий и не вижу корень». </a:t>
            </a:r>
            <a:endParaRPr sz="1100" b="0">
              <a:solidFill>
                <a:srgbClr val="ACB8D6"/>
              </a:solidFill>
              <a:latin typeface="Aptos"/>
            </a:endParaRPr>
          </a:p>
          <a:p>
            <a:pPr algn="l">
              <a:defRPr/>
            </a:pPr>
            <a:r>
              <a:rPr sz="1100" b="0">
                <a:solidFill>
                  <a:srgbClr val="ACB8D6"/>
                </a:solidFill>
                <a:latin typeface="Aptos"/>
              </a:rPr>
              <a:t>Ответ Serenity: вопросы и инсайты, которые помогают заметить паттерны.</a:t>
            </a:r>
            <a:endParaRPr/>
          </a:p>
        </p:txBody>
      </p:sp>
      <p:sp>
        <p:nvSpPr>
          <p:cNvPr id="1560109767" name="TextBox 15"/>
          <p:cNvSpPr txBox="1"/>
          <p:nvPr/>
        </p:nvSpPr>
        <p:spPr bwMode="auto">
          <a:xfrm>
            <a:off x="1143000" y="4892039"/>
            <a:ext cx="9966960" cy="4389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defRPr/>
            </a:pPr>
            <a:r>
              <a:rPr sz="1600" b="1">
                <a:solidFill>
                  <a:srgbClr val="F5F8FF"/>
                </a:solidFill>
                <a:latin typeface="Aptos"/>
              </a:rPr>
              <a:t>Мы не обещаем заменить терапию. Мы даем пользователю приватный инструмент для первого разговора с собой.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4070252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507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20336365" name="TextBox 2"/>
          <p:cNvSpPr txBox="1"/>
          <p:nvPr/>
        </p:nvSpPr>
        <p:spPr bwMode="auto">
          <a:xfrm>
            <a:off x="658368" y="411480"/>
            <a:ext cx="804672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2800" b="1">
                <a:solidFill>
                  <a:srgbClr val="F5F8FF"/>
                </a:solidFill>
                <a:latin typeface="Aptos"/>
              </a:rPr>
              <a:t>Решение Serenity</a:t>
            </a:r>
            <a:endParaRPr/>
          </a:p>
        </p:txBody>
      </p:sp>
      <p:sp>
        <p:nvSpPr>
          <p:cNvPr id="792383194" name="TextBox 3"/>
          <p:cNvSpPr txBox="1"/>
          <p:nvPr/>
        </p:nvSpPr>
        <p:spPr bwMode="auto">
          <a:xfrm>
            <a:off x="685800" y="978407"/>
            <a:ext cx="8595360" cy="3291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60A5FA"/>
                </a:solidFill>
                <a:latin typeface="Aptos"/>
              </a:rPr>
              <a:t>AI-диалог + эмоциональная аналитика + приватность</a:t>
            </a:r>
            <a:endParaRPr/>
          </a:p>
        </p:txBody>
      </p:sp>
      <p:sp>
        <p:nvSpPr>
          <p:cNvPr id="142189341" name="TextBox 4"/>
          <p:cNvSpPr txBox="1"/>
          <p:nvPr/>
        </p:nvSpPr>
        <p:spPr bwMode="auto">
          <a:xfrm>
            <a:off x="658368" y="6419088"/>
            <a:ext cx="137160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800" b="1">
                <a:solidFill>
                  <a:srgbClr val="ACB8D6"/>
                </a:solidFill>
                <a:latin typeface="Aptos"/>
              </a:rPr>
              <a:t>SERENITY</a:t>
            </a:r>
            <a:endParaRPr/>
          </a:p>
        </p:txBody>
      </p:sp>
      <p:sp>
        <p:nvSpPr>
          <p:cNvPr id="1414459538" name="TextBox 5"/>
          <p:cNvSpPr txBox="1"/>
          <p:nvPr/>
        </p:nvSpPr>
        <p:spPr bwMode="auto">
          <a:xfrm>
            <a:off x="11082528" y="6400800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defRPr/>
            </a:pPr>
            <a:r>
              <a:rPr sz="800" b="0">
                <a:solidFill>
                  <a:srgbClr val="ACB8D6"/>
                </a:solidFill>
                <a:latin typeface="Aptos"/>
              </a:rPr>
              <a:t>04</a:t>
            </a:r>
            <a:endParaRPr/>
          </a:p>
        </p:txBody>
      </p:sp>
      <p:sp>
        <p:nvSpPr>
          <p:cNvPr id="390792685" name="Rounded Rectangle 6"/>
          <p:cNvSpPr/>
          <p:nvPr/>
        </p:nvSpPr>
        <p:spPr bwMode="auto">
          <a:xfrm>
            <a:off x="731520" y="1508759"/>
            <a:ext cx="3154680" cy="1417320"/>
          </a:xfrm>
          <a:prstGeom prst="roundRect">
            <a:avLst>
              <a:gd name="adj" fmla="val 16667"/>
            </a:avLst>
          </a:prstGeom>
          <a:solidFill>
            <a:srgbClr val="101630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01343366" name="TextBox 7"/>
          <p:cNvSpPr txBox="1"/>
          <p:nvPr/>
        </p:nvSpPr>
        <p:spPr bwMode="auto">
          <a:xfrm>
            <a:off x="932688" y="1673351"/>
            <a:ext cx="2752343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1500" b="1">
                <a:solidFill>
                  <a:srgbClr val="F5F8FF"/>
                </a:solidFill>
                <a:latin typeface="Aptos"/>
              </a:rPr>
              <a:t>AI-собеседник</a:t>
            </a:r>
            <a:endParaRPr/>
          </a:p>
        </p:txBody>
      </p:sp>
      <p:sp>
        <p:nvSpPr>
          <p:cNvPr id="8335104" name="TextBox 8"/>
          <p:cNvSpPr txBox="1"/>
          <p:nvPr/>
        </p:nvSpPr>
        <p:spPr bwMode="auto">
          <a:xfrm>
            <a:off x="932688" y="2039112"/>
            <a:ext cx="2752343" cy="75895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ACB8D6"/>
                </a:solidFill>
                <a:latin typeface="Aptos"/>
              </a:rPr>
              <a:t>Поддерживающий диалог помогает сформулировать переживание и двигаться к пониманию причины.</a:t>
            </a:r>
            <a:endParaRPr/>
          </a:p>
        </p:txBody>
      </p:sp>
      <p:sp>
        <p:nvSpPr>
          <p:cNvPr id="1653377468" name="Rounded Rectangle 9"/>
          <p:cNvSpPr/>
          <p:nvPr/>
        </p:nvSpPr>
        <p:spPr bwMode="auto">
          <a:xfrm>
            <a:off x="731520" y="3154680"/>
            <a:ext cx="3154680" cy="1417320"/>
          </a:xfrm>
          <a:prstGeom prst="roundRect">
            <a:avLst>
              <a:gd name="adj" fmla="val 16667"/>
            </a:avLst>
          </a:prstGeom>
          <a:solidFill>
            <a:srgbClr val="101630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82244256" name="TextBox 10"/>
          <p:cNvSpPr txBox="1"/>
          <p:nvPr/>
        </p:nvSpPr>
        <p:spPr bwMode="auto">
          <a:xfrm>
            <a:off x="932688" y="3319272"/>
            <a:ext cx="2752343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1500" b="1">
                <a:solidFill>
                  <a:srgbClr val="F5F8FF"/>
                </a:solidFill>
                <a:latin typeface="Aptos"/>
              </a:rPr>
              <a:t>Эмоциональный профиль</a:t>
            </a:r>
            <a:endParaRPr/>
          </a:p>
        </p:txBody>
      </p:sp>
      <p:sp>
        <p:nvSpPr>
          <p:cNvPr id="2103101908" name="TextBox 11"/>
          <p:cNvSpPr txBox="1"/>
          <p:nvPr/>
        </p:nvSpPr>
        <p:spPr bwMode="auto">
          <a:xfrm>
            <a:off x="932688" y="3685032"/>
            <a:ext cx="2752343" cy="75895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ACB8D6"/>
                </a:solidFill>
                <a:latin typeface="Aptos"/>
              </a:rPr>
              <a:t>Пользователь видит, как меняются радость, тревога, грусть, доверие и злость.</a:t>
            </a:r>
            <a:endParaRPr/>
          </a:p>
        </p:txBody>
      </p:sp>
      <p:sp>
        <p:nvSpPr>
          <p:cNvPr id="1295201262" name="Rounded Rectangle 12"/>
          <p:cNvSpPr/>
          <p:nvPr/>
        </p:nvSpPr>
        <p:spPr bwMode="auto">
          <a:xfrm flipH="0" flipV="0">
            <a:off x="731519" y="4800600"/>
            <a:ext cx="3154680" cy="1278412"/>
          </a:xfrm>
          <a:prstGeom prst="roundRect">
            <a:avLst>
              <a:gd name="adj" fmla="val 16667"/>
            </a:avLst>
          </a:prstGeom>
          <a:solidFill>
            <a:srgbClr val="101630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53734064" name="TextBox 13"/>
          <p:cNvSpPr txBox="1"/>
          <p:nvPr/>
        </p:nvSpPr>
        <p:spPr bwMode="auto">
          <a:xfrm>
            <a:off x="932688" y="4965192"/>
            <a:ext cx="2752343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1500" b="1">
                <a:solidFill>
                  <a:srgbClr val="F5F8FF"/>
                </a:solidFill>
                <a:latin typeface="Aptos"/>
              </a:rPr>
              <a:t>Анонимность</a:t>
            </a:r>
            <a:endParaRPr/>
          </a:p>
        </p:txBody>
      </p:sp>
      <p:sp>
        <p:nvSpPr>
          <p:cNvPr id="1496290810" name="TextBox 14"/>
          <p:cNvSpPr txBox="1"/>
          <p:nvPr/>
        </p:nvSpPr>
        <p:spPr bwMode="auto">
          <a:xfrm>
            <a:off x="932688" y="5330952"/>
            <a:ext cx="2752343" cy="30175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ACB8D6"/>
                </a:solidFill>
                <a:latin typeface="Aptos"/>
              </a:rPr>
              <a:t>Сервис не требует раскрывать реальную личность, а ценность строится вокруг приватного диалога.</a:t>
            </a:r>
            <a:endParaRPr/>
          </a:p>
        </p:txBody>
      </p:sp>
      <p:pic>
        <p:nvPicPr>
          <p:cNvPr id="38842320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408194" y="2217420"/>
            <a:ext cx="3209263" cy="2532888"/>
          </a:xfrm>
          <a:prstGeom prst="rect">
            <a:avLst/>
          </a:prstGeom>
        </p:spPr>
      </p:pic>
      <p:pic>
        <p:nvPicPr>
          <p:cNvPr id="125379691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8138008" y="1171684"/>
            <a:ext cx="3092774" cy="43101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70337488" name="Picture 1" descr="exampleimage3.jp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053517142" name="Rectangle 2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50716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19042260" name="TextBox 3"/>
          <p:cNvSpPr txBox="1"/>
          <p:nvPr/>
        </p:nvSpPr>
        <p:spPr bwMode="auto">
          <a:xfrm>
            <a:off x="658368" y="411480"/>
            <a:ext cx="804672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2800" b="1">
                <a:solidFill>
                  <a:srgbClr val="F5F8FF"/>
                </a:solidFill>
                <a:latin typeface="Aptos"/>
              </a:rPr>
              <a:t>Продукт: AI-чат</a:t>
            </a:r>
            <a:endParaRPr/>
          </a:p>
        </p:txBody>
      </p:sp>
      <p:sp>
        <p:nvSpPr>
          <p:cNvPr id="1869996283" name="TextBox 4"/>
          <p:cNvSpPr txBox="1"/>
          <p:nvPr/>
        </p:nvSpPr>
        <p:spPr bwMode="auto">
          <a:xfrm>
            <a:off x="685800" y="987552"/>
            <a:ext cx="8595360" cy="3291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60A5FA"/>
                </a:solidFill>
                <a:latin typeface="Aptos"/>
              </a:rPr>
              <a:t>Первый экран ценности - разговор без осуждения</a:t>
            </a:r>
            <a:endParaRPr/>
          </a:p>
        </p:txBody>
      </p:sp>
      <p:sp>
        <p:nvSpPr>
          <p:cNvPr id="1769566832" name="TextBox 5"/>
          <p:cNvSpPr txBox="1"/>
          <p:nvPr/>
        </p:nvSpPr>
        <p:spPr bwMode="auto">
          <a:xfrm>
            <a:off x="658368" y="6419088"/>
            <a:ext cx="137160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800" b="1">
                <a:solidFill>
                  <a:srgbClr val="ACB8D6"/>
                </a:solidFill>
                <a:latin typeface="Aptos"/>
              </a:rPr>
              <a:t>SERENITY</a:t>
            </a:r>
            <a:endParaRPr/>
          </a:p>
        </p:txBody>
      </p:sp>
      <p:sp>
        <p:nvSpPr>
          <p:cNvPr id="1838527635" name="TextBox 6"/>
          <p:cNvSpPr txBox="1"/>
          <p:nvPr/>
        </p:nvSpPr>
        <p:spPr bwMode="auto">
          <a:xfrm>
            <a:off x="11082528" y="6400800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defRPr/>
            </a:pPr>
            <a:r>
              <a:rPr sz="800" b="0">
                <a:solidFill>
                  <a:srgbClr val="ACB8D6"/>
                </a:solidFill>
                <a:latin typeface="Aptos"/>
              </a:rPr>
              <a:t>05</a:t>
            </a:r>
            <a:endParaRPr/>
          </a:p>
        </p:txBody>
      </p:sp>
      <p:sp>
        <p:nvSpPr>
          <p:cNvPr id="277759220" name="TextBox 15"/>
          <p:cNvSpPr txBox="1"/>
          <p:nvPr/>
        </p:nvSpPr>
        <p:spPr bwMode="auto">
          <a:xfrm>
            <a:off x="6035039" y="1600200"/>
            <a:ext cx="4937760" cy="2194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5F8FF"/>
                </a:solidFill>
                <a:latin typeface="Aptos"/>
              </a:defRPr>
            </a:pPr>
            <a:r>
              <a:rPr/>
              <a:t>Пользователь пишет обычным языком, без форм и тестов.</a:t>
            </a:r>
            <a:endParaRPr/>
          </a:p>
          <a:p>
            <a:pPr>
              <a:spcAft>
                <a:spcPts val="700"/>
              </a:spcAft>
              <a:defRPr sz="1600">
                <a:solidFill>
                  <a:srgbClr val="F5F8FF"/>
                </a:solidFill>
                <a:latin typeface="Aptos"/>
              </a:defRPr>
            </a:pPr>
            <a:r>
              <a:rPr/>
              <a:t>Serenity отвечает спокойно и задает уточняющие вопросы.</a:t>
            </a:r>
            <a:endParaRPr/>
          </a:p>
          <a:p>
            <a:pPr>
              <a:spcAft>
                <a:spcPts val="700"/>
              </a:spcAft>
              <a:defRPr sz="1600">
                <a:solidFill>
                  <a:srgbClr val="F5F8FF"/>
                </a:solidFill>
                <a:latin typeface="Aptos"/>
              </a:defRPr>
            </a:pPr>
            <a:r>
              <a:rPr/>
              <a:t>Демо-чаты на лендинге показывают сценарий до регистрации.</a:t>
            </a:r>
            <a:endParaRPr/>
          </a:p>
          <a:p>
            <a:pPr>
              <a:spcAft>
                <a:spcPts val="700"/>
              </a:spcAft>
              <a:defRPr sz="1600">
                <a:solidFill>
                  <a:srgbClr val="F5F8FF"/>
                </a:solidFill>
                <a:latin typeface="Aptos"/>
              </a:defRPr>
            </a:pPr>
            <a:r>
              <a:rPr/>
              <a:t>После регистрации пользователь получает полноценную историю диалогов.</a:t>
            </a:r>
            <a:endParaRPr/>
          </a:p>
        </p:txBody>
      </p:sp>
      <p:sp>
        <p:nvSpPr>
          <p:cNvPr id="174747962" name="TextBox 16"/>
          <p:cNvSpPr txBox="1"/>
          <p:nvPr/>
        </p:nvSpPr>
        <p:spPr bwMode="auto">
          <a:xfrm>
            <a:off x="6035039" y="4370832"/>
            <a:ext cx="4754880" cy="8412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1700" b="1">
                <a:solidFill>
                  <a:srgbClr val="F5F8FF"/>
                </a:solidFill>
                <a:latin typeface="Aptos"/>
              </a:rPr>
              <a:t>Главная задача чата - помочь человеку услышать себя, а не раздать универсальные советы.</a:t>
            </a:r>
            <a:endParaRPr/>
          </a:p>
        </p:txBody>
      </p:sp>
      <p:pic>
        <p:nvPicPr>
          <p:cNvPr id="1093009194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85800" y="1762403"/>
            <a:ext cx="4216329" cy="33277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53530666" name="Picture 1" descr="example9-16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86342449" name="Rectangle 2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50716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21101323" name="TextBox 3"/>
          <p:cNvSpPr txBox="1"/>
          <p:nvPr/>
        </p:nvSpPr>
        <p:spPr bwMode="auto">
          <a:xfrm>
            <a:off x="658368" y="411480"/>
            <a:ext cx="804672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2800" b="1">
                <a:solidFill>
                  <a:srgbClr val="F5F8FF"/>
                </a:solidFill>
                <a:latin typeface="Aptos"/>
              </a:rPr>
              <a:t>Продукт: эмоциональный профиль</a:t>
            </a:r>
            <a:endParaRPr/>
          </a:p>
        </p:txBody>
      </p:sp>
      <p:sp>
        <p:nvSpPr>
          <p:cNvPr id="1052411289" name="TextBox 4"/>
          <p:cNvSpPr txBox="1"/>
          <p:nvPr/>
        </p:nvSpPr>
        <p:spPr bwMode="auto">
          <a:xfrm>
            <a:off x="685800" y="987552"/>
            <a:ext cx="8595360" cy="3291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60A5FA"/>
                </a:solidFill>
                <a:latin typeface="Aptos"/>
              </a:rPr>
              <a:t>Статистика превращает ощущения в наблюдаемую динамику</a:t>
            </a:r>
            <a:endParaRPr/>
          </a:p>
        </p:txBody>
      </p:sp>
      <p:sp>
        <p:nvSpPr>
          <p:cNvPr id="1096025605" name="TextBox 5"/>
          <p:cNvSpPr txBox="1"/>
          <p:nvPr/>
        </p:nvSpPr>
        <p:spPr bwMode="auto">
          <a:xfrm>
            <a:off x="658368" y="6419088"/>
            <a:ext cx="137160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800" b="1">
                <a:solidFill>
                  <a:srgbClr val="ACB8D6"/>
                </a:solidFill>
                <a:latin typeface="Aptos"/>
              </a:rPr>
              <a:t>SERENITY</a:t>
            </a:r>
            <a:endParaRPr/>
          </a:p>
        </p:txBody>
      </p:sp>
      <p:sp>
        <p:nvSpPr>
          <p:cNvPr id="908932430" name="TextBox 6"/>
          <p:cNvSpPr txBox="1"/>
          <p:nvPr/>
        </p:nvSpPr>
        <p:spPr bwMode="auto">
          <a:xfrm>
            <a:off x="11082528" y="6400800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defRPr/>
            </a:pPr>
            <a:r>
              <a:rPr sz="800" b="0">
                <a:solidFill>
                  <a:srgbClr val="ACB8D6"/>
                </a:solidFill>
                <a:latin typeface="Aptos"/>
              </a:rPr>
              <a:t>06</a:t>
            </a:r>
            <a:endParaRPr/>
          </a:p>
        </p:txBody>
      </p:sp>
      <p:sp>
        <p:nvSpPr>
          <p:cNvPr id="738011273" name="Rounded Rectangle 29"/>
          <p:cNvSpPr/>
          <p:nvPr/>
        </p:nvSpPr>
        <p:spPr bwMode="auto">
          <a:xfrm flipH="0" flipV="0">
            <a:off x="5577840" y="1508759"/>
            <a:ext cx="2606040" cy="1555013"/>
          </a:xfrm>
          <a:prstGeom prst="roundRect">
            <a:avLst>
              <a:gd name="adj" fmla="val 16667"/>
            </a:avLst>
          </a:prstGeom>
          <a:solidFill>
            <a:srgbClr val="101630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8079795" name="TextBox 30"/>
          <p:cNvSpPr txBox="1"/>
          <p:nvPr/>
        </p:nvSpPr>
        <p:spPr bwMode="auto">
          <a:xfrm>
            <a:off x="5779007" y="1673351"/>
            <a:ext cx="2203704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1500" b="1">
                <a:solidFill>
                  <a:srgbClr val="F5F8FF"/>
                </a:solidFill>
                <a:latin typeface="Aptos"/>
              </a:rPr>
              <a:t>Периоды</a:t>
            </a:r>
            <a:endParaRPr/>
          </a:p>
        </p:txBody>
      </p:sp>
      <p:sp>
        <p:nvSpPr>
          <p:cNvPr id="1744611818" name="TextBox 31"/>
          <p:cNvSpPr txBox="1"/>
          <p:nvPr/>
        </p:nvSpPr>
        <p:spPr bwMode="auto">
          <a:xfrm>
            <a:off x="5779007" y="2039112"/>
            <a:ext cx="2203704" cy="5760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ACB8D6"/>
                </a:solidFill>
                <a:latin typeface="Aptos"/>
              </a:rPr>
              <a:t>День, неделя, месяц и все время помогают увидеть изменения без сложных графиков.</a:t>
            </a:r>
            <a:endParaRPr/>
          </a:p>
        </p:txBody>
      </p:sp>
      <p:sp>
        <p:nvSpPr>
          <p:cNvPr id="2135300405" name="Rounded Rectangle 32"/>
          <p:cNvSpPr/>
          <p:nvPr/>
        </p:nvSpPr>
        <p:spPr bwMode="auto">
          <a:xfrm flipH="0" flipV="0">
            <a:off x="8458200" y="1508759"/>
            <a:ext cx="2606040" cy="1555013"/>
          </a:xfrm>
          <a:prstGeom prst="roundRect">
            <a:avLst>
              <a:gd name="adj" fmla="val 16667"/>
            </a:avLst>
          </a:prstGeom>
          <a:solidFill>
            <a:srgbClr val="101630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49163039" name="TextBox 33"/>
          <p:cNvSpPr txBox="1"/>
          <p:nvPr/>
        </p:nvSpPr>
        <p:spPr bwMode="auto">
          <a:xfrm>
            <a:off x="8659368" y="1673351"/>
            <a:ext cx="2203704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1500" b="1">
                <a:solidFill>
                  <a:srgbClr val="F5F8FF"/>
                </a:solidFill>
                <a:latin typeface="Aptos"/>
              </a:rPr>
              <a:t>Эмоции</a:t>
            </a:r>
            <a:endParaRPr/>
          </a:p>
        </p:txBody>
      </p:sp>
      <p:sp>
        <p:nvSpPr>
          <p:cNvPr id="1177352116" name="TextBox 34"/>
          <p:cNvSpPr txBox="1"/>
          <p:nvPr/>
        </p:nvSpPr>
        <p:spPr bwMode="auto">
          <a:xfrm>
            <a:off x="8659368" y="2039112"/>
            <a:ext cx="2206223" cy="5581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lang="ru-RU" sz="1100" b="0">
                <a:solidFill>
                  <a:srgbClr val="ACB8D6"/>
                </a:solidFill>
                <a:latin typeface="Aptos"/>
              </a:rPr>
              <a:t>Восемь </a:t>
            </a:r>
            <a:r>
              <a:rPr sz="1100" b="0">
                <a:solidFill>
                  <a:srgbClr val="ACB8D6"/>
                </a:solidFill>
                <a:latin typeface="Aptos"/>
              </a:rPr>
              <a:t>базовых состояний дают пользователю понятную карту текущего настроения.</a:t>
            </a:r>
            <a:endParaRPr/>
          </a:p>
        </p:txBody>
      </p:sp>
      <p:sp>
        <p:nvSpPr>
          <p:cNvPr id="630444388" name="Rounded Rectangle 35"/>
          <p:cNvSpPr/>
          <p:nvPr/>
        </p:nvSpPr>
        <p:spPr bwMode="auto">
          <a:xfrm flipH="0" flipV="0">
            <a:off x="5577840" y="3429000"/>
            <a:ext cx="2606040" cy="1506721"/>
          </a:xfrm>
          <a:prstGeom prst="roundRect">
            <a:avLst>
              <a:gd name="adj" fmla="val 16667"/>
            </a:avLst>
          </a:prstGeom>
          <a:solidFill>
            <a:srgbClr val="101630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17856462" name="TextBox 36"/>
          <p:cNvSpPr txBox="1"/>
          <p:nvPr/>
        </p:nvSpPr>
        <p:spPr bwMode="auto">
          <a:xfrm>
            <a:off x="5779006" y="3593592"/>
            <a:ext cx="2203704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1500" b="1">
                <a:solidFill>
                  <a:srgbClr val="F5F8FF"/>
                </a:solidFill>
                <a:latin typeface="Aptos"/>
              </a:rPr>
              <a:t>Инсайты</a:t>
            </a:r>
            <a:endParaRPr/>
          </a:p>
        </p:txBody>
      </p:sp>
      <p:sp>
        <p:nvSpPr>
          <p:cNvPr id="1888640202" name="TextBox 37"/>
          <p:cNvSpPr txBox="1"/>
          <p:nvPr/>
        </p:nvSpPr>
        <p:spPr bwMode="auto">
          <a:xfrm>
            <a:off x="5779006" y="3959352"/>
            <a:ext cx="2237183" cy="5581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ACB8D6"/>
                </a:solidFill>
                <a:latin typeface="Aptos"/>
              </a:rPr>
              <a:t>Сервис </a:t>
            </a:r>
            <a:r>
              <a:rPr lang="ru-RU" sz="1100" b="0">
                <a:solidFill>
                  <a:srgbClr val="ACB8D6"/>
                </a:solidFill>
                <a:latin typeface="Aptos"/>
              </a:rPr>
              <a:t>связывает темы диалога с</a:t>
            </a:r>
            <a:r>
              <a:rPr sz="1100" b="0">
                <a:solidFill>
                  <a:srgbClr val="ACB8D6"/>
                </a:solidFill>
                <a:latin typeface="Aptos"/>
              </a:rPr>
              <a:t> динамикой эмоций</a:t>
            </a:r>
            <a:r>
              <a:rPr lang="ru-RU" sz="1100" b="0">
                <a:solidFill>
                  <a:srgbClr val="ACB8D6"/>
                </a:solidFill>
                <a:latin typeface="Aptos"/>
              </a:rPr>
              <a:t> в реальном времени</a:t>
            </a:r>
            <a:r>
              <a:rPr sz="1100" b="0">
                <a:solidFill>
                  <a:srgbClr val="ACB8D6"/>
                </a:solidFill>
                <a:latin typeface="Aptos"/>
              </a:rPr>
              <a:t>.</a:t>
            </a:r>
            <a:endParaRPr/>
          </a:p>
        </p:txBody>
      </p:sp>
      <p:sp>
        <p:nvSpPr>
          <p:cNvPr id="928370258" name="Rounded Rectangle 38"/>
          <p:cNvSpPr/>
          <p:nvPr/>
        </p:nvSpPr>
        <p:spPr bwMode="auto">
          <a:xfrm flipH="0" flipV="0">
            <a:off x="8458200" y="3429000"/>
            <a:ext cx="2606040" cy="1506721"/>
          </a:xfrm>
          <a:prstGeom prst="roundRect">
            <a:avLst>
              <a:gd name="adj" fmla="val 16667"/>
            </a:avLst>
          </a:prstGeom>
          <a:solidFill>
            <a:srgbClr val="101630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95795174" name="TextBox 39"/>
          <p:cNvSpPr txBox="1"/>
          <p:nvPr/>
        </p:nvSpPr>
        <p:spPr bwMode="auto">
          <a:xfrm>
            <a:off x="8659368" y="3593592"/>
            <a:ext cx="2203704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1500" b="1">
                <a:solidFill>
                  <a:srgbClr val="F5F8FF"/>
                </a:solidFill>
                <a:latin typeface="Aptos"/>
              </a:rPr>
              <a:t>Удержание</a:t>
            </a:r>
            <a:endParaRPr/>
          </a:p>
        </p:txBody>
      </p:sp>
      <p:sp>
        <p:nvSpPr>
          <p:cNvPr id="321756628" name="TextBox 40"/>
          <p:cNvSpPr txBox="1"/>
          <p:nvPr/>
        </p:nvSpPr>
        <p:spPr bwMode="auto">
          <a:xfrm>
            <a:off x="8659368" y="3959352"/>
            <a:ext cx="2203704" cy="5760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ACB8D6"/>
                </a:solidFill>
                <a:latin typeface="Aptos"/>
              </a:rPr>
              <a:t>Чем дольше пользователь ведет диалог и отслеживает состояние, тем полезнее становится история.</a:t>
            </a:r>
            <a:endParaRPr/>
          </a:p>
        </p:txBody>
      </p:sp>
      <p:pic>
        <p:nvPicPr>
          <p:cNvPr id="834698099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1124696" y="1347080"/>
            <a:ext cx="3092773" cy="43101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6802123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507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29650213" name="TextBox 2"/>
          <p:cNvSpPr txBox="1"/>
          <p:nvPr/>
        </p:nvSpPr>
        <p:spPr bwMode="auto">
          <a:xfrm>
            <a:off x="658368" y="411480"/>
            <a:ext cx="804672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2800" b="1">
                <a:solidFill>
                  <a:srgbClr val="F5F8FF"/>
                </a:solidFill>
                <a:latin typeface="Aptos"/>
              </a:rPr>
              <a:t>Целевая аудитория</a:t>
            </a:r>
            <a:endParaRPr/>
          </a:p>
        </p:txBody>
      </p:sp>
      <p:sp>
        <p:nvSpPr>
          <p:cNvPr id="833362601" name="TextBox 3"/>
          <p:cNvSpPr txBox="1"/>
          <p:nvPr/>
        </p:nvSpPr>
        <p:spPr bwMode="auto">
          <a:xfrm>
            <a:off x="685800" y="987552"/>
            <a:ext cx="8595720" cy="22286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60A5FA"/>
                </a:solidFill>
                <a:latin typeface="Aptos"/>
              </a:rPr>
              <a:t>Три портрета боли</a:t>
            </a:r>
            <a:endParaRPr/>
          </a:p>
        </p:txBody>
      </p:sp>
      <p:sp>
        <p:nvSpPr>
          <p:cNvPr id="1646961966" name="TextBox 4"/>
          <p:cNvSpPr txBox="1"/>
          <p:nvPr/>
        </p:nvSpPr>
        <p:spPr bwMode="auto">
          <a:xfrm>
            <a:off x="658368" y="6419088"/>
            <a:ext cx="137160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800" b="1">
                <a:solidFill>
                  <a:srgbClr val="ACB8D6"/>
                </a:solidFill>
                <a:latin typeface="Aptos"/>
              </a:rPr>
              <a:t>SERENITY</a:t>
            </a:r>
            <a:endParaRPr/>
          </a:p>
        </p:txBody>
      </p:sp>
      <p:sp>
        <p:nvSpPr>
          <p:cNvPr id="555279162" name="TextBox 5"/>
          <p:cNvSpPr txBox="1"/>
          <p:nvPr/>
        </p:nvSpPr>
        <p:spPr bwMode="auto">
          <a:xfrm>
            <a:off x="11082528" y="6400800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defRPr/>
            </a:pPr>
            <a:r>
              <a:rPr sz="800" b="0">
                <a:solidFill>
                  <a:srgbClr val="ACB8D6"/>
                </a:solidFill>
                <a:latin typeface="Aptos"/>
              </a:rPr>
              <a:t>07</a:t>
            </a:r>
            <a:endParaRPr/>
          </a:p>
        </p:txBody>
      </p:sp>
      <p:sp>
        <p:nvSpPr>
          <p:cNvPr id="1157368354" name="Rounded Rectangle 6"/>
          <p:cNvSpPr/>
          <p:nvPr/>
        </p:nvSpPr>
        <p:spPr bwMode="auto">
          <a:xfrm>
            <a:off x="731520" y="1600200"/>
            <a:ext cx="3291840" cy="2240280"/>
          </a:xfrm>
          <a:prstGeom prst="roundRect">
            <a:avLst>
              <a:gd name="adj" fmla="val 16667"/>
            </a:avLst>
          </a:prstGeom>
          <a:solidFill>
            <a:srgbClr val="101630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79072090" name="TextBox 7"/>
          <p:cNvSpPr txBox="1"/>
          <p:nvPr/>
        </p:nvSpPr>
        <p:spPr bwMode="auto">
          <a:xfrm>
            <a:off x="932688" y="1764792"/>
            <a:ext cx="2889504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1500" b="1">
                <a:solidFill>
                  <a:srgbClr val="F5F8FF"/>
                </a:solidFill>
                <a:latin typeface="Aptos"/>
              </a:rPr>
              <a:t>Женщины 22-45</a:t>
            </a:r>
            <a:endParaRPr/>
          </a:p>
        </p:txBody>
      </p:sp>
      <p:sp>
        <p:nvSpPr>
          <p:cNvPr id="1791138735" name="TextBox 8"/>
          <p:cNvSpPr txBox="1"/>
          <p:nvPr/>
        </p:nvSpPr>
        <p:spPr bwMode="auto">
          <a:xfrm>
            <a:off x="932688" y="2130552"/>
            <a:ext cx="2889504" cy="15819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ACB8D6"/>
                </a:solidFill>
                <a:latin typeface="Aptos"/>
              </a:rPr>
              <a:t>Конфликт ролей: карьера, семья, быт. Запрос: вернуть контакт с собой и снизить эмоциональное выгорание.</a:t>
            </a:r>
            <a:endParaRPr/>
          </a:p>
        </p:txBody>
      </p:sp>
      <p:sp>
        <p:nvSpPr>
          <p:cNvPr id="84094228" name="Rounded Rectangle 9"/>
          <p:cNvSpPr/>
          <p:nvPr/>
        </p:nvSpPr>
        <p:spPr bwMode="auto">
          <a:xfrm>
            <a:off x="4434840" y="1600200"/>
            <a:ext cx="3291840" cy="2240280"/>
          </a:xfrm>
          <a:prstGeom prst="roundRect">
            <a:avLst>
              <a:gd name="adj" fmla="val 16667"/>
            </a:avLst>
          </a:prstGeom>
          <a:solidFill>
            <a:srgbClr val="101630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89163238" name="TextBox 10"/>
          <p:cNvSpPr txBox="1"/>
          <p:nvPr/>
        </p:nvSpPr>
        <p:spPr bwMode="auto">
          <a:xfrm>
            <a:off x="4636007" y="1764792"/>
            <a:ext cx="2889504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1500" b="1">
                <a:solidFill>
                  <a:srgbClr val="F5F8FF"/>
                </a:solidFill>
                <a:latin typeface="Aptos"/>
              </a:rPr>
              <a:t>Мужчины 18-45</a:t>
            </a:r>
            <a:endParaRPr/>
          </a:p>
        </p:txBody>
      </p:sp>
      <p:sp>
        <p:nvSpPr>
          <p:cNvPr id="62190752" name="TextBox 11"/>
          <p:cNvSpPr txBox="1"/>
          <p:nvPr/>
        </p:nvSpPr>
        <p:spPr bwMode="auto">
          <a:xfrm>
            <a:off x="4636007" y="2130552"/>
            <a:ext cx="2889504" cy="15819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ACB8D6"/>
                </a:solidFill>
                <a:latin typeface="Aptos"/>
              </a:rPr>
              <a:t>Запрет на уязвимость и проявление эмоций. Запрос: приватное пространство без стыда и оценки.</a:t>
            </a:r>
            <a:endParaRPr/>
          </a:p>
        </p:txBody>
      </p:sp>
      <p:sp>
        <p:nvSpPr>
          <p:cNvPr id="1930646119" name="Rounded Rectangle 12"/>
          <p:cNvSpPr/>
          <p:nvPr/>
        </p:nvSpPr>
        <p:spPr bwMode="auto">
          <a:xfrm>
            <a:off x="8138160" y="1600200"/>
            <a:ext cx="3291840" cy="2240280"/>
          </a:xfrm>
          <a:prstGeom prst="roundRect">
            <a:avLst>
              <a:gd name="adj" fmla="val 16667"/>
            </a:avLst>
          </a:prstGeom>
          <a:solidFill>
            <a:srgbClr val="101630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5397522" name="TextBox 13"/>
          <p:cNvSpPr txBox="1"/>
          <p:nvPr/>
        </p:nvSpPr>
        <p:spPr bwMode="auto">
          <a:xfrm>
            <a:off x="8339328" y="1764792"/>
            <a:ext cx="2889504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1500" b="1">
                <a:solidFill>
                  <a:srgbClr val="F5F8FF"/>
                </a:solidFill>
                <a:latin typeface="Aptos"/>
              </a:rPr>
              <a:t>Поколение Z 16-21</a:t>
            </a:r>
            <a:endParaRPr/>
          </a:p>
        </p:txBody>
      </p:sp>
      <p:sp>
        <p:nvSpPr>
          <p:cNvPr id="805335664" name="TextBox 14"/>
          <p:cNvSpPr txBox="1"/>
          <p:nvPr/>
        </p:nvSpPr>
        <p:spPr bwMode="auto">
          <a:xfrm>
            <a:off x="8339328" y="2130552"/>
            <a:ext cx="2889504" cy="15819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ACB8D6"/>
                </a:solidFill>
                <a:latin typeface="Aptos"/>
              </a:rPr>
              <a:t>Давление соцсетей и сравнение себя с другими. Запрос: безопасное принятие чувств без нотаций взрослых.</a:t>
            </a:r>
            <a:endParaRPr/>
          </a:p>
        </p:txBody>
      </p:sp>
      <p:sp>
        <p:nvSpPr>
          <p:cNvPr id="1683135379" name="TextBox 15"/>
          <p:cNvSpPr txBox="1"/>
          <p:nvPr/>
        </p:nvSpPr>
        <p:spPr bwMode="auto">
          <a:xfrm>
            <a:off x="1097280" y="4709160"/>
            <a:ext cx="9966960" cy="4754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defRPr/>
            </a:pPr>
            <a:r>
              <a:rPr sz="1700" b="1">
                <a:solidFill>
                  <a:srgbClr val="F5F8FF"/>
                </a:solidFill>
                <a:latin typeface="Aptos"/>
              </a:rPr>
              <a:t>Общий знаменатель: пользователю нужен низкий порог входа, приватность и ощущение, что его слышат.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5514005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507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04520536" name="TextBox 2"/>
          <p:cNvSpPr txBox="1"/>
          <p:nvPr/>
        </p:nvSpPr>
        <p:spPr bwMode="auto">
          <a:xfrm>
            <a:off x="658368" y="411480"/>
            <a:ext cx="804672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2800" b="1">
                <a:solidFill>
                  <a:srgbClr val="F5F8FF"/>
                </a:solidFill>
                <a:latin typeface="Aptos"/>
              </a:rPr>
              <a:t>Ценность продукта</a:t>
            </a:r>
            <a:endParaRPr/>
          </a:p>
        </p:txBody>
      </p:sp>
      <p:sp>
        <p:nvSpPr>
          <p:cNvPr id="160567879" name="TextBox 3"/>
          <p:cNvSpPr txBox="1"/>
          <p:nvPr/>
        </p:nvSpPr>
        <p:spPr bwMode="auto">
          <a:xfrm>
            <a:off x="685800" y="987552"/>
            <a:ext cx="8595360" cy="3291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60A5FA"/>
                </a:solidFill>
                <a:latin typeface="Aptos"/>
              </a:rPr>
              <a:t>Быть услышанным, увидеть динамику, понять паттерны</a:t>
            </a:r>
            <a:endParaRPr/>
          </a:p>
        </p:txBody>
      </p:sp>
      <p:sp>
        <p:nvSpPr>
          <p:cNvPr id="1910377742" name="TextBox 4"/>
          <p:cNvSpPr txBox="1"/>
          <p:nvPr/>
        </p:nvSpPr>
        <p:spPr bwMode="auto">
          <a:xfrm>
            <a:off x="658368" y="6419088"/>
            <a:ext cx="137160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800" b="1">
                <a:solidFill>
                  <a:srgbClr val="ACB8D6"/>
                </a:solidFill>
                <a:latin typeface="Aptos"/>
              </a:rPr>
              <a:t>SERENITY</a:t>
            </a:r>
            <a:endParaRPr/>
          </a:p>
        </p:txBody>
      </p:sp>
      <p:sp>
        <p:nvSpPr>
          <p:cNvPr id="249083793" name="TextBox 5"/>
          <p:cNvSpPr txBox="1"/>
          <p:nvPr/>
        </p:nvSpPr>
        <p:spPr bwMode="auto">
          <a:xfrm>
            <a:off x="11082528" y="6400800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defRPr/>
            </a:pPr>
            <a:r>
              <a:rPr sz="800" b="0">
                <a:solidFill>
                  <a:srgbClr val="ACB8D6"/>
                </a:solidFill>
                <a:latin typeface="Aptos"/>
              </a:rPr>
              <a:t>08</a:t>
            </a:r>
            <a:endParaRPr/>
          </a:p>
        </p:txBody>
      </p:sp>
      <p:sp>
        <p:nvSpPr>
          <p:cNvPr id="733883558" name="Rounded Rectangle 6"/>
          <p:cNvSpPr/>
          <p:nvPr/>
        </p:nvSpPr>
        <p:spPr bwMode="auto">
          <a:xfrm>
            <a:off x="731520" y="1691640"/>
            <a:ext cx="3337560" cy="2194560"/>
          </a:xfrm>
          <a:prstGeom prst="roundRect">
            <a:avLst>
              <a:gd name="adj" fmla="val 16667"/>
            </a:avLst>
          </a:prstGeom>
          <a:solidFill>
            <a:srgbClr val="101630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741245" name="TextBox 7"/>
          <p:cNvSpPr txBox="1"/>
          <p:nvPr/>
        </p:nvSpPr>
        <p:spPr bwMode="auto">
          <a:xfrm>
            <a:off x="932688" y="1856232"/>
            <a:ext cx="2935224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1500" b="1">
                <a:solidFill>
                  <a:srgbClr val="F5F8FF"/>
                </a:solidFill>
                <a:latin typeface="Aptos"/>
              </a:rPr>
              <a:t>Быть услышанным</a:t>
            </a:r>
            <a:endParaRPr/>
          </a:p>
        </p:txBody>
      </p:sp>
      <p:sp>
        <p:nvSpPr>
          <p:cNvPr id="893367760" name="TextBox 8"/>
          <p:cNvSpPr txBox="1"/>
          <p:nvPr/>
        </p:nvSpPr>
        <p:spPr bwMode="auto">
          <a:xfrm>
            <a:off x="932688" y="2221992"/>
            <a:ext cx="2935224" cy="15361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ACB8D6"/>
                </a:solidFill>
                <a:latin typeface="Aptos"/>
              </a:rPr>
              <a:t>AI-чат дает пространство, где можно говорить честно и без необходимости «держать лицо».</a:t>
            </a:r>
            <a:endParaRPr/>
          </a:p>
        </p:txBody>
      </p:sp>
      <p:sp>
        <p:nvSpPr>
          <p:cNvPr id="920936278" name="Rounded Rectangle 9"/>
          <p:cNvSpPr/>
          <p:nvPr/>
        </p:nvSpPr>
        <p:spPr bwMode="auto">
          <a:xfrm>
            <a:off x="4434840" y="1691640"/>
            <a:ext cx="3337560" cy="2194560"/>
          </a:xfrm>
          <a:prstGeom prst="roundRect">
            <a:avLst>
              <a:gd name="adj" fmla="val 16667"/>
            </a:avLst>
          </a:prstGeom>
          <a:solidFill>
            <a:srgbClr val="101630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49837405" name="TextBox 10"/>
          <p:cNvSpPr txBox="1"/>
          <p:nvPr/>
        </p:nvSpPr>
        <p:spPr bwMode="auto">
          <a:xfrm>
            <a:off x="4636007" y="1856232"/>
            <a:ext cx="2935224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1500" b="1">
                <a:solidFill>
                  <a:srgbClr val="F5F8FF"/>
                </a:solidFill>
                <a:latin typeface="Aptos"/>
              </a:rPr>
              <a:t>Быть увиденным</a:t>
            </a:r>
            <a:endParaRPr/>
          </a:p>
        </p:txBody>
      </p:sp>
      <p:sp>
        <p:nvSpPr>
          <p:cNvPr id="1932649223" name="TextBox 11"/>
          <p:cNvSpPr txBox="1"/>
          <p:nvPr/>
        </p:nvSpPr>
        <p:spPr bwMode="auto">
          <a:xfrm>
            <a:off x="4636007" y="2221992"/>
            <a:ext cx="2935224" cy="15361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ACB8D6"/>
                </a:solidFill>
                <a:latin typeface="Aptos"/>
              </a:rPr>
              <a:t>Эмоциональный профиль показывает состояние не как разовую оценку, а как историю изменений.</a:t>
            </a:r>
            <a:endParaRPr/>
          </a:p>
        </p:txBody>
      </p:sp>
      <p:sp>
        <p:nvSpPr>
          <p:cNvPr id="71237036" name="Rounded Rectangle 12"/>
          <p:cNvSpPr/>
          <p:nvPr/>
        </p:nvSpPr>
        <p:spPr bwMode="auto">
          <a:xfrm>
            <a:off x="8138160" y="1691640"/>
            <a:ext cx="3337560" cy="2194560"/>
          </a:xfrm>
          <a:prstGeom prst="roundRect">
            <a:avLst>
              <a:gd name="adj" fmla="val 16667"/>
            </a:avLst>
          </a:prstGeom>
          <a:solidFill>
            <a:srgbClr val="101630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869333" name="TextBox 13"/>
          <p:cNvSpPr txBox="1"/>
          <p:nvPr/>
        </p:nvSpPr>
        <p:spPr bwMode="auto">
          <a:xfrm>
            <a:off x="8339328" y="1856232"/>
            <a:ext cx="2935224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1500" b="1">
                <a:solidFill>
                  <a:srgbClr val="F5F8FF"/>
                </a:solidFill>
                <a:latin typeface="Aptos"/>
              </a:rPr>
              <a:t>Быть понятым</a:t>
            </a:r>
            <a:endParaRPr/>
          </a:p>
        </p:txBody>
      </p:sp>
      <p:sp>
        <p:nvSpPr>
          <p:cNvPr id="1346390407" name="TextBox 14"/>
          <p:cNvSpPr txBox="1"/>
          <p:nvPr/>
        </p:nvSpPr>
        <p:spPr bwMode="auto">
          <a:xfrm>
            <a:off x="8339328" y="2221992"/>
            <a:ext cx="2935224" cy="15361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ACB8D6"/>
                </a:solidFill>
                <a:latin typeface="Aptos"/>
              </a:rPr>
              <a:t>Повторяющиеся темы и реакции становятся заметнее, а пользователь получает язык для описания себя.</a:t>
            </a:r>
            <a:endParaRPr/>
          </a:p>
        </p:txBody>
      </p:sp>
      <p:sp>
        <p:nvSpPr>
          <p:cNvPr id="1896136242" name="TextBox 15"/>
          <p:cNvSpPr txBox="1"/>
          <p:nvPr/>
        </p:nvSpPr>
        <p:spPr bwMode="auto">
          <a:xfrm>
            <a:off x="1234440" y="4681728"/>
            <a:ext cx="9509760" cy="7498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defRPr/>
            </a:pPr>
            <a:r>
              <a:rPr sz="1800" b="1">
                <a:solidFill>
                  <a:srgbClr val="F5F8FF"/>
                </a:solidFill>
                <a:latin typeface="Aptos"/>
              </a:rPr>
              <a:t>Serenity продает не «разговор с ботом», а регулярный инструмент самопонимания.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7079938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507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6182130" name="TextBox 2"/>
          <p:cNvSpPr txBox="1"/>
          <p:nvPr/>
        </p:nvSpPr>
        <p:spPr bwMode="auto">
          <a:xfrm>
            <a:off x="658368" y="411480"/>
            <a:ext cx="804672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2800" b="1">
                <a:solidFill>
                  <a:srgbClr val="F5F8FF"/>
                </a:solidFill>
                <a:latin typeface="Aptos"/>
              </a:rPr>
              <a:t>Оценка рынка и динамика роста</a:t>
            </a:r>
            <a:endParaRPr/>
          </a:p>
        </p:txBody>
      </p:sp>
      <p:sp>
        <p:nvSpPr>
          <p:cNvPr id="1736176573" name="TextBox 3"/>
          <p:cNvSpPr txBox="1"/>
          <p:nvPr/>
        </p:nvSpPr>
        <p:spPr bwMode="auto">
          <a:xfrm>
            <a:off x="685800" y="987552"/>
            <a:ext cx="8595360" cy="3291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60A5FA"/>
                </a:solidFill>
                <a:latin typeface="Aptos"/>
              </a:rPr>
              <a:t>Сохраняем текущие расчеты TAM / SAM / SOM</a:t>
            </a:r>
            <a:endParaRPr/>
          </a:p>
        </p:txBody>
      </p:sp>
      <p:sp>
        <p:nvSpPr>
          <p:cNvPr id="565111294" name="TextBox 4"/>
          <p:cNvSpPr txBox="1"/>
          <p:nvPr/>
        </p:nvSpPr>
        <p:spPr bwMode="auto">
          <a:xfrm>
            <a:off x="658368" y="6419088"/>
            <a:ext cx="137160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800" b="1">
                <a:solidFill>
                  <a:srgbClr val="ACB8D6"/>
                </a:solidFill>
                <a:latin typeface="Aptos"/>
              </a:rPr>
              <a:t>SERENITY</a:t>
            </a:r>
            <a:endParaRPr/>
          </a:p>
        </p:txBody>
      </p:sp>
      <p:sp>
        <p:nvSpPr>
          <p:cNvPr id="1306423979" name="TextBox 5"/>
          <p:cNvSpPr txBox="1"/>
          <p:nvPr/>
        </p:nvSpPr>
        <p:spPr bwMode="auto">
          <a:xfrm>
            <a:off x="11082528" y="6400800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defRPr/>
            </a:pPr>
            <a:r>
              <a:rPr sz="800" b="0">
                <a:solidFill>
                  <a:srgbClr val="ACB8D6"/>
                </a:solidFill>
                <a:latin typeface="Aptos"/>
              </a:rPr>
              <a:t>09</a:t>
            </a:r>
            <a:endParaRPr/>
          </a:p>
        </p:txBody>
      </p:sp>
      <p:sp>
        <p:nvSpPr>
          <p:cNvPr id="315323362" name="Rounded Rectangle 6"/>
          <p:cNvSpPr/>
          <p:nvPr/>
        </p:nvSpPr>
        <p:spPr bwMode="auto">
          <a:xfrm>
            <a:off x="822960" y="1691640"/>
            <a:ext cx="3063240" cy="1325880"/>
          </a:xfrm>
          <a:prstGeom prst="roundRect">
            <a:avLst>
              <a:gd name="adj" fmla="val 16667"/>
            </a:avLst>
          </a:prstGeom>
          <a:solidFill>
            <a:srgbClr val="161E42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193186" name="TextBox 7"/>
          <p:cNvSpPr txBox="1"/>
          <p:nvPr/>
        </p:nvSpPr>
        <p:spPr bwMode="auto">
          <a:xfrm>
            <a:off x="987552" y="1819656"/>
            <a:ext cx="2734056" cy="3291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2000" b="1">
                <a:solidFill>
                  <a:srgbClr val="F5F8FF"/>
                </a:solidFill>
                <a:latin typeface="Aptos"/>
              </a:rPr>
              <a:t>240 млрд ₽</a:t>
            </a:r>
            <a:endParaRPr/>
          </a:p>
        </p:txBody>
      </p:sp>
      <p:sp>
        <p:nvSpPr>
          <p:cNvPr id="860853662" name="TextBox 8"/>
          <p:cNvSpPr txBox="1"/>
          <p:nvPr/>
        </p:nvSpPr>
        <p:spPr bwMode="auto">
          <a:xfrm>
            <a:off x="987552" y="2194560"/>
            <a:ext cx="2734056" cy="2103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900" b="1">
                <a:solidFill>
                  <a:srgbClr val="60A5FA"/>
                </a:solidFill>
                <a:latin typeface="Aptos"/>
              </a:rPr>
              <a:t>TAM</a:t>
            </a:r>
            <a:endParaRPr/>
          </a:p>
        </p:txBody>
      </p:sp>
      <p:sp>
        <p:nvSpPr>
          <p:cNvPr id="844915753" name="TextBox 9"/>
          <p:cNvSpPr txBox="1"/>
          <p:nvPr/>
        </p:nvSpPr>
        <p:spPr bwMode="auto">
          <a:xfrm>
            <a:off x="987552" y="2441448"/>
            <a:ext cx="2734056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800" b="0">
                <a:solidFill>
                  <a:srgbClr val="ACB8D6"/>
                </a:solidFill>
                <a:latin typeface="Aptos"/>
              </a:rPr>
              <a:t>50 млн аудитория × 4 800 ₽ годовой чек</a:t>
            </a:r>
            <a:endParaRPr/>
          </a:p>
        </p:txBody>
      </p:sp>
      <p:sp>
        <p:nvSpPr>
          <p:cNvPr id="1940471667" name="Rounded Rectangle 10"/>
          <p:cNvSpPr/>
          <p:nvPr/>
        </p:nvSpPr>
        <p:spPr bwMode="auto">
          <a:xfrm>
            <a:off x="4526280" y="1691640"/>
            <a:ext cx="3063240" cy="1325880"/>
          </a:xfrm>
          <a:prstGeom prst="roundRect">
            <a:avLst>
              <a:gd name="adj" fmla="val 16667"/>
            </a:avLst>
          </a:prstGeom>
          <a:solidFill>
            <a:srgbClr val="161E42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18149328" name="TextBox 11"/>
          <p:cNvSpPr txBox="1"/>
          <p:nvPr/>
        </p:nvSpPr>
        <p:spPr bwMode="auto">
          <a:xfrm>
            <a:off x="4690872" y="1819656"/>
            <a:ext cx="2734056" cy="3291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2000" b="1">
                <a:solidFill>
                  <a:srgbClr val="F5F8FF"/>
                </a:solidFill>
                <a:latin typeface="Aptos"/>
              </a:rPr>
              <a:t>24 млрд ₽</a:t>
            </a:r>
            <a:endParaRPr/>
          </a:p>
        </p:txBody>
      </p:sp>
      <p:sp>
        <p:nvSpPr>
          <p:cNvPr id="1357313684" name="TextBox 12"/>
          <p:cNvSpPr txBox="1"/>
          <p:nvPr/>
        </p:nvSpPr>
        <p:spPr bwMode="auto">
          <a:xfrm>
            <a:off x="4690872" y="2194560"/>
            <a:ext cx="2734056" cy="2103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900" b="1">
                <a:solidFill>
                  <a:srgbClr val="A78BFA"/>
                </a:solidFill>
                <a:latin typeface="Aptos"/>
              </a:rPr>
              <a:t>SAM</a:t>
            </a:r>
            <a:endParaRPr/>
          </a:p>
        </p:txBody>
      </p:sp>
      <p:sp>
        <p:nvSpPr>
          <p:cNvPr id="42939144" name="TextBox 13"/>
          <p:cNvSpPr txBox="1"/>
          <p:nvPr/>
        </p:nvSpPr>
        <p:spPr bwMode="auto">
          <a:xfrm>
            <a:off x="4690872" y="2441448"/>
            <a:ext cx="2734056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800" b="0">
                <a:solidFill>
                  <a:srgbClr val="ACB8D6"/>
                </a:solidFill>
                <a:latin typeface="Aptos"/>
              </a:rPr>
              <a:t>10% от TAM, сегмент цифровых решений</a:t>
            </a:r>
            <a:endParaRPr/>
          </a:p>
        </p:txBody>
      </p:sp>
      <p:sp>
        <p:nvSpPr>
          <p:cNvPr id="390319680" name="Rounded Rectangle 14"/>
          <p:cNvSpPr/>
          <p:nvPr/>
        </p:nvSpPr>
        <p:spPr bwMode="auto">
          <a:xfrm>
            <a:off x="8229600" y="1691640"/>
            <a:ext cx="3063240" cy="1325880"/>
          </a:xfrm>
          <a:prstGeom prst="roundRect">
            <a:avLst>
              <a:gd name="adj" fmla="val 16667"/>
            </a:avLst>
          </a:prstGeom>
          <a:solidFill>
            <a:srgbClr val="161E42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14874410" name="TextBox 15"/>
          <p:cNvSpPr txBox="1"/>
          <p:nvPr/>
        </p:nvSpPr>
        <p:spPr bwMode="auto">
          <a:xfrm>
            <a:off x="8394192" y="1819656"/>
            <a:ext cx="2734056" cy="3291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2000" b="1">
                <a:solidFill>
                  <a:srgbClr val="F5F8FF"/>
                </a:solidFill>
                <a:latin typeface="Aptos"/>
              </a:rPr>
              <a:t>480 млн ₽</a:t>
            </a:r>
            <a:endParaRPr/>
          </a:p>
        </p:txBody>
      </p:sp>
      <p:sp>
        <p:nvSpPr>
          <p:cNvPr id="1896908717" name="TextBox 16"/>
          <p:cNvSpPr txBox="1"/>
          <p:nvPr/>
        </p:nvSpPr>
        <p:spPr bwMode="auto">
          <a:xfrm>
            <a:off x="8394192" y="2194560"/>
            <a:ext cx="2734056" cy="2103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900" b="1">
                <a:solidFill>
                  <a:srgbClr val="22D3EE"/>
                </a:solidFill>
                <a:latin typeface="Aptos"/>
              </a:rPr>
              <a:t>SOM</a:t>
            </a:r>
            <a:endParaRPr/>
          </a:p>
        </p:txBody>
      </p:sp>
      <p:sp>
        <p:nvSpPr>
          <p:cNvPr id="760751289" name="TextBox 17"/>
          <p:cNvSpPr txBox="1"/>
          <p:nvPr/>
        </p:nvSpPr>
        <p:spPr bwMode="auto">
          <a:xfrm>
            <a:off x="8394192" y="2441448"/>
            <a:ext cx="2734056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800" b="0">
                <a:solidFill>
                  <a:srgbClr val="ACB8D6"/>
                </a:solidFill>
                <a:latin typeface="Aptos"/>
              </a:rPr>
              <a:t>2% от SAM, около 100 000 платящих пользователей</a:t>
            </a:r>
            <a:endParaRPr/>
          </a:p>
        </p:txBody>
      </p:sp>
      <p:sp>
        <p:nvSpPr>
          <p:cNvPr id="905054586" name="TextBox 18"/>
          <p:cNvSpPr txBox="1"/>
          <p:nvPr/>
        </p:nvSpPr>
        <p:spPr bwMode="auto">
          <a:xfrm>
            <a:off x="1005840" y="3931920"/>
            <a:ext cx="9875520" cy="11430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5F8FF"/>
                </a:solidFill>
                <a:latin typeface="Aptos"/>
              </a:defRPr>
            </a:pPr>
            <a:r>
              <a:rPr/>
              <a:t>Рынок психологических услуг в России растет на 25% в год.</a:t>
            </a:r>
            <a:endParaRPr/>
          </a:p>
          <a:p>
            <a:pPr>
              <a:spcAft>
                <a:spcPts val="700"/>
              </a:spcAft>
              <a:defRPr sz="1600">
                <a:solidFill>
                  <a:srgbClr val="F5F8FF"/>
                </a:solidFill>
                <a:latin typeface="Aptos"/>
              </a:defRPr>
            </a:pPr>
            <a:r>
              <a:rPr/>
              <a:t>Спрос на услуги психологов за последний год вырос на 60%.</a:t>
            </a:r>
            <a:endParaRPr/>
          </a:p>
          <a:p>
            <a:pPr>
              <a:spcAft>
                <a:spcPts val="700"/>
              </a:spcAft>
              <a:defRPr sz="1600">
                <a:solidFill>
                  <a:srgbClr val="F5F8FF"/>
                </a:solidFill>
                <a:latin typeface="Aptos"/>
              </a:defRPr>
            </a:pPr>
            <a:r>
              <a:rPr/>
              <a:t>За 10 лет доля россиян, обращавшихся к психологам, удвоилась по данным ВЦИОМ.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0952937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507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8158509" name="TextBox 2"/>
          <p:cNvSpPr txBox="1"/>
          <p:nvPr/>
        </p:nvSpPr>
        <p:spPr bwMode="auto">
          <a:xfrm>
            <a:off x="658368" y="411480"/>
            <a:ext cx="804672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2800" b="1">
                <a:solidFill>
                  <a:srgbClr val="F5F8FF"/>
                </a:solidFill>
                <a:latin typeface="Aptos"/>
              </a:rPr>
              <a:t>Наше место на рынке</a:t>
            </a:r>
            <a:endParaRPr/>
          </a:p>
        </p:txBody>
      </p:sp>
      <p:sp>
        <p:nvSpPr>
          <p:cNvPr id="1571669686" name="TextBox 3"/>
          <p:cNvSpPr txBox="1"/>
          <p:nvPr/>
        </p:nvSpPr>
        <p:spPr bwMode="auto">
          <a:xfrm>
            <a:off x="685800" y="987552"/>
            <a:ext cx="8595360" cy="3291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60A5FA"/>
                </a:solidFill>
                <a:latin typeface="Aptos"/>
              </a:rPr>
              <a:t>Serenity конкурирует за регулярную привычку к самопониманию</a:t>
            </a:r>
            <a:endParaRPr/>
          </a:p>
        </p:txBody>
      </p:sp>
      <p:sp>
        <p:nvSpPr>
          <p:cNvPr id="1392515249" name="TextBox 4"/>
          <p:cNvSpPr txBox="1"/>
          <p:nvPr/>
        </p:nvSpPr>
        <p:spPr bwMode="auto">
          <a:xfrm>
            <a:off x="658368" y="6419088"/>
            <a:ext cx="137160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800" b="1">
                <a:solidFill>
                  <a:srgbClr val="ACB8D6"/>
                </a:solidFill>
                <a:latin typeface="Aptos"/>
              </a:rPr>
              <a:t>SERENITY</a:t>
            </a:r>
            <a:endParaRPr/>
          </a:p>
        </p:txBody>
      </p:sp>
      <p:sp>
        <p:nvSpPr>
          <p:cNvPr id="45713798" name="TextBox 5"/>
          <p:cNvSpPr txBox="1"/>
          <p:nvPr/>
        </p:nvSpPr>
        <p:spPr bwMode="auto">
          <a:xfrm>
            <a:off x="11082528" y="6400800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defRPr/>
            </a:pPr>
            <a:r>
              <a:rPr sz="800" b="0">
                <a:solidFill>
                  <a:srgbClr val="ACB8D6"/>
                </a:solidFill>
                <a:latin typeface="Aptos"/>
              </a:rPr>
              <a:t>10</a:t>
            </a:r>
            <a:endParaRPr/>
          </a:p>
        </p:txBody>
      </p:sp>
      <p:sp>
        <p:nvSpPr>
          <p:cNvPr id="643773103" name="Rounded Rectangle 6"/>
          <p:cNvSpPr/>
          <p:nvPr/>
        </p:nvSpPr>
        <p:spPr bwMode="auto">
          <a:xfrm>
            <a:off x="731520" y="1417320"/>
            <a:ext cx="3291840" cy="1828800"/>
          </a:xfrm>
          <a:prstGeom prst="roundRect">
            <a:avLst>
              <a:gd name="adj" fmla="val 16667"/>
            </a:avLst>
          </a:prstGeom>
          <a:solidFill>
            <a:srgbClr val="101630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8024160" name="TextBox 7"/>
          <p:cNvSpPr txBox="1"/>
          <p:nvPr/>
        </p:nvSpPr>
        <p:spPr bwMode="auto">
          <a:xfrm>
            <a:off x="932688" y="1581912"/>
            <a:ext cx="2889504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1500" b="1">
                <a:solidFill>
                  <a:srgbClr val="F5F8FF"/>
                </a:solidFill>
                <a:latin typeface="Aptos"/>
              </a:rPr>
              <a:t>AI-компаньоны</a:t>
            </a:r>
            <a:endParaRPr/>
          </a:p>
        </p:txBody>
      </p:sp>
      <p:sp>
        <p:nvSpPr>
          <p:cNvPr id="1650554645" name="TextBox 8"/>
          <p:cNvSpPr txBox="1"/>
          <p:nvPr/>
        </p:nvSpPr>
        <p:spPr bwMode="auto">
          <a:xfrm>
            <a:off x="932688" y="1947671"/>
            <a:ext cx="2889504" cy="11704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ACB8D6"/>
                </a:solidFill>
                <a:latin typeface="Aptos"/>
              </a:rPr>
              <a:t>Replika, Character.AI: доступны 24/7, но чаще решают развлечение и эскапизм.</a:t>
            </a:r>
            <a:endParaRPr/>
          </a:p>
        </p:txBody>
      </p:sp>
      <p:sp>
        <p:nvSpPr>
          <p:cNvPr id="749439695" name="Rounded Rectangle 9"/>
          <p:cNvSpPr/>
          <p:nvPr/>
        </p:nvSpPr>
        <p:spPr bwMode="auto">
          <a:xfrm>
            <a:off x="4434840" y="1417320"/>
            <a:ext cx="3291840" cy="1828800"/>
          </a:xfrm>
          <a:prstGeom prst="roundRect">
            <a:avLst>
              <a:gd name="adj" fmla="val 16667"/>
            </a:avLst>
          </a:prstGeom>
          <a:solidFill>
            <a:srgbClr val="101630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4755908" name="TextBox 10"/>
          <p:cNvSpPr txBox="1"/>
          <p:nvPr/>
        </p:nvSpPr>
        <p:spPr bwMode="auto">
          <a:xfrm>
            <a:off x="4636007" y="1581912"/>
            <a:ext cx="2889504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1500" b="1">
                <a:solidFill>
                  <a:srgbClr val="F5F8FF"/>
                </a:solidFill>
                <a:latin typeface="Aptos"/>
              </a:rPr>
              <a:t>Цифровые помощники</a:t>
            </a:r>
            <a:endParaRPr/>
          </a:p>
        </p:txBody>
      </p:sp>
      <p:sp>
        <p:nvSpPr>
          <p:cNvPr id="2106511988" name="TextBox 11"/>
          <p:cNvSpPr txBox="1"/>
          <p:nvPr/>
        </p:nvSpPr>
        <p:spPr bwMode="auto">
          <a:xfrm>
            <a:off x="4636007" y="1947671"/>
            <a:ext cx="2889504" cy="11704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ACB8D6"/>
                </a:solidFill>
                <a:latin typeface="Aptos"/>
              </a:rPr>
              <a:t>Лея, Мира, Friend: низкий порог входа, но часто ограничены скриптами и базовой поддержкой.</a:t>
            </a:r>
            <a:endParaRPr/>
          </a:p>
        </p:txBody>
      </p:sp>
      <p:sp>
        <p:nvSpPr>
          <p:cNvPr id="1811935842" name="Rounded Rectangle 12"/>
          <p:cNvSpPr/>
          <p:nvPr/>
        </p:nvSpPr>
        <p:spPr bwMode="auto">
          <a:xfrm>
            <a:off x="8138160" y="1417320"/>
            <a:ext cx="3291840" cy="1828800"/>
          </a:xfrm>
          <a:prstGeom prst="roundRect">
            <a:avLst>
              <a:gd name="adj" fmla="val 16667"/>
            </a:avLst>
          </a:prstGeom>
          <a:solidFill>
            <a:srgbClr val="101630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83698385" name="TextBox 13"/>
          <p:cNvSpPr txBox="1"/>
          <p:nvPr/>
        </p:nvSpPr>
        <p:spPr bwMode="auto">
          <a:xfrm>
            <a:off x="8339328" y="1581912"/>
            <a:ext cx="2889504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1500" b="1">
                <a:solidFill>
                  <a:srgbClr val="F5F8FF"/>
                </a:solidFill>
                <a:latin typeface="Aptos"/>
              </a:rPr>
              <a:t>Аналоговые решения</a:t>
            </a:r>
            <a:endParaRPr/>
          </a:p>
        </p:txBody>
      </p:sp>
      <p:sp>
        <p:nvSpPr>
          <p:cNvPr id="612832838" name="TextBox 14"/>
          <p:cNvSpPr txBox="1"/>
          <p:nvPr/>
        </p:nvSpPr>
        <p:spPr bwMode="auto">
          <a:xfrm>
            <a:off x="8339328" y="1947671"/>
            <a:ext cx="2889504" cy="11704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ACB8D6"/>
                </a:solidFill>
                <a:latin typeface="Aptos"/>
              </a:rPr>
              <a:t>Коучи, наставники, астрологи: человеческий контакт, но высокая цена и низкая анонимность.</a:t>
            </a:r>
            <a:endParaRPr/>
          </a:p>
        </p:txBody>
      </p:sp>
      <p:sp>
        <p:nvSpPr>
          <p:cNvPr id="959878673" name="TextBox 15"/>
          <p:cNvSpPr txBox="1"/>
          <p:nvPr/>
        </p:nvSpPr>
        <p:spPr bwMode="auto">
          <a:xfrm>
            <a:off x="1051560" y="4389120"/>
            <a:ext cx="1005840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defRPr/>
            </a:pPr>
            <a:r>
              <a:rPr sz="2000" b="1">
                <a:solidFill>
                  <a:srgbClr val="F5F8FF"/>
                </a:solidFill>
                <a:latin typeface="Aptos"/>
              </a:rPr>
              <a:t>Позиция Serenity: доступная глубина, приватность и продуктовая аналитика по цене подписки.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792336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507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50838735" name="TextBox 2"/>
          <p:cNvSpPr txBox="1"/>
          <p:nvPr/>
        </p:nvSpPr>
        <p:spPr bwMode="auto">
          <a:xfrm>
            <a:off x="658368" y="411480"/>
            <a:ext cx="804672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2800" b="1">
                <a:solidFill>
                  <a:srgbClr val="F5F8FF"/>
                </a:solidFill>
                <a:latin typeface="Aptos"/>
              </a:rPr>
              <a:t>Монетизация</a:t>
            </a:r>
            <a:endParaRPr/>
          </a:p>
        </p:txBody>
      </p:sp>
      <p:sp>
        <p:nvSpPr>
          <p:cNvPr id="812207427" name="TextBox 3"/>
          <p:cNvSpPr txBox="1"/>
          <p:nvPr/>
        </p:nvSpPr>
        <p:spPr bwMode="auto">
          <a:xfrm>
            <a:off x="685800" y="987552"/>
            <a:ext cx="8595360" cy="3291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60A5FA"/>
                </a:solidFill>
                <a:latin typeface="Aptos"/>
              </a:rPr>
              <a:t>Freemium-модель: пользователь платит за глубину и регулярность</a:t>
            </a:r>
            <a:endParaRPr/>
          </a:p>
        </p:txBody>
      </p:sp>
      <p:sp>
        <p:nvSpPr>
          <p:cNvPr id="1268125776" name="TextBox 4"/>
          <p:cNvSpPr txBox="1"/>
          <p:nvPr/>
        </p:nvSpPr>
        <p:spPr bwMode="auto">
          <a:xfrm>
            <a:off x="658368" y="6419088"/>
            <a:ext cx="137160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800" b="1">
                <a:solidFill>
                  <a:srgbClr val="ACB8D6"/>
                </a:solidFill>
                <a:latin typeface="Aptos"/>
              </a:rPr>
              <a:t>SERENITY</a:t>
            </a:r>
            <a:endParaRPr/>
          </a:p>
        </p:txBody>
      </p:sp>
      <p:sp>
        <p:nvSpPr>
          <p:cNvPr id="1028708942" name="TextBox 5"/>
          <p:cNvSpPr txBox="1"/>
          <p:nvPr/>
        </p:nvSpPr>
        <p:spPr bwMode="auto">
          <a:xfrm>
            <a:off x="11082528" y="6400800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defRPr/>
            </a:pPr>
            <a:r>
              <a:rPr sz="800" b="0">
                <a:solidFill>
                  <a:srgbClr val="ACB8D6"/>
                </a:solidFill>
                <a:latin typeface="Aptos"/>
              </a:rPr>
              <a:t>11</a:t>
            </a:r>
            <a:endParaRPr/>
          </a:p>
        </p:txBody>
      </p:sp>
      <p:sp>
        <p:nvSpPr>
          <p:cNvPr id="1097926194" name="TextBox 12"/>
          <p:cNvSpPr txBox="1"/>
          <p:nvPr/>
        </p:nvSpPr>
        <p:spPr bwMode="auto">
          <a:xfrm>
            <a:off x="1143000" y="5257800"/>
            <a:ext cx="9875520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defRPr/>
            </a:pPr>
            <a:r>
              <a:rPr sz="1400" b="0">
                <a:solidFill>
                  <a:srgbClr val="ACB8D6"/>
                </a:solidFill>
                <a:latin typeface="Aptos"/>
              </a:rPr>
              <a:t>В будущем возможны партнерские интеграции, если они не ломают приватность и пользовательский опыт.</a:t>
            </a:r>
            <a:endParaRPr/>
          </a:p>
        </p:txBody>
      </p:sp>
      <p:pic>
        <p:nvPicPr>
          <p:cNvPr id="40909733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913411" y="1985446"/>
            <a:ext cx="3486736" cy="2564712"/>
          </a:xfrm>
          <a:prstGeom prst="rect">
            <a:avLst/>
          </a:prstGeom>
        </p:spPr>
      </p:pic>
      <p:pic>
        <p:nvPicPr>
          <p:cNvPr id="207333232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080760" y="1985446"/>
            <a:ext cx="3470524" cy="25647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1806850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507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11749755" name="TextBox 2"/>
          <p:cNvSpPr txBox="1"/>
          <p:nvPr/>
        </p:nvSpPr>
        <p:spPr bwMode="auto">
          <a:xfrm>
            <a:off x="658368" y="411480"/>
            <a:ext cx="804672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2800" b="1">
                <a:solidFill>
                  <a:srgbClr val="F5F8FF"/>
                </a:solidFill>
                <a:latin typeface="Aptos"/>
              </a:rPr>
              <a:t>Экономика и milestones</a:t>
            </a:r>
            <a:endParaRPr/>
          </a:p>
        </p:txBody>
      </p:sp>
      <p:sp>
        <p:nvSpPr>
          <p:cNvPr id="660535691" name="TextBox 3"/>
          <p:cNvSpPr txBox="1"/>
          <p:nvPr/>
        </p:nvSpPr>
        <p:spPr bwMode="auto">
          <a:xfrm>
            <a:off x="685800" y="987552"/>
            <a:ext cx="8595360" cy="3291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60A5FA"/>
                </a:solidFill>
                <a:latin typeface="Aptos"/>
              </a:rPr>
              <a:t>Сохраняем расчеты из текущего pitch deck</a:t>
            </a:r>
            <a:endParaRPr/>
          </a:p>
        </p:txBody>
      </p:sp>
      <p:sp>
        <p:nvSpPr>
          <p:cNvPr id="1105378115" name="TextBox 4"/>
          <p:cNvSpPr txBox="1"/>
          <p:nvPr/>
        </p:nvSpPr>
        <p:spPr bwMode="auto">
          <a:xfrm>
            <a:off x="658368" y="6419088"/>
            <a:ext cx="137160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800" b="1">
                <a:solidFill>
                  <a:srgbClr val="ACB8D6"/>
                </a:solidFill>
                <a:latin typeface="Aptos"/>
              </a:rPr>
              <a:t>SERENITY</a:t>
            </a:r>
            <a:endParaRPr/>
          </a:p>
        </p:txBody>
      </p:sp>
      <p:sp>
        <p:nvSpPr>
          <p:cNvPr id="835551213" name="TextBox 5"/>
          <p:cNvSpPr txBox="1"/>
          <p:nvPr/>
        </p:nvSpPr>
        <p:spPr bwMode="auto">
          <a:xfrm>
            <a:off x="11082528" y="6400800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defRPr/>
            </a:pPr>
            <a:r>
              <a:rPr sz="800" b="0">
                <a:solidFill>
                  <a:srgbClr val="ACB8D6"/>
                </a:solidFill>
                <a:latin typeface="Aptos"/>
              </a:rPr>
              <a:t>12</a:t>
            </a:r>
            <a:endParaRPr/>
          </a:p>
        </p:txBody>
      </p:sp>
      <p:sp>
        <p:nvSpPr>
          <p:cNvPr id="553836454" name="Rounded Rectangle 6"/>
          <p:cNvSpPr/>
          <p:nvPr/>
        </p:nvSpPr>
        <p:spPr bwMode="auto">
          <a:xfrm>
            <a:off x="777240" y="1508759"/>
            <a:ext cx="2240280" cy="1051560"/>
          </a:xfrm>
          <a:prstGeom prst="roundRect">
            <a:avLst>
              <a:gd name="adj" fmla="val 16667"/>
            </a:avLst>
          </a:prstGeom>
          <a:solidFill>
            <a:srgbClr val="161E42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87051724" name="TextBox 7"/>
          <p:cNvSpPr txBox="1"/>
          <p:nvPr/>
        </p:nvSpPr>
        <p:spPr bwMode="auto">
          <a:xfrm>
            <a:off x="941832" y="1636776"/>
            <a:ext cx="1911096" cy="3291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2000" b="1">
                <a:solidFill>
                  <a:srgbClr val="F5F8FF"/>
                </a:solidFill>
                <a:latin typeface="Aptos"/>
              </a:rPr>
              <a:t>~360 ₽/мес</a:t>
            </a:r>
            <a:endParaRPr/>
          </a:p>
        </p:txBody>
      </p:sp>
      <p:sp>
        <p:nvSpPr>
          <p:cNvPr id="1870331963" name="TextBox 8"/>
          <p:cNvSpPr txBox="1"/>
          <p:nvPr/>
        </p:nvSpPr>
        <p:spPr bwMode="auto">
          <a:xfrm>
            <a:off x="941832" y="2011680"/>
            <a:ext cx="1911096" cy="2103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900" b="1">
                <a:solidFill>
                  <a:srgbClr val="60A5FA"/>
                </a:solidFill>
                <a:latin typeface="Aptos"/>
              </a:rPr>
              <a:t>ARPU</a:t>
            </a:r>
            <a:endParaRPr/>
          </a:p>
        </p:txBody>
      </p:sp>
      <p:sp>
        <p:nvSpPr>
          <p:cNvPr id="1560033321" name="TextBox 9"/>
          <p:cNvSpPr txBox="1"/>
          <p:nvPr/>
        </p:nvSpPr>
        <p:spPr bwMode="auto">
          <a:xfrm>
            <a:off x="941832" y="2258568"/>
            <a:ext cx="1911096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800" b="0">
                <a:solidFill>
                  <a:srgbClr val="ACB8D6"/>
                </a:solidFill>
                <a:latin typeface="Aptos"/>
              </a:rPr>
              <a:t>на платящего пользователя</a:t>
            </a:r>
            <a:endParaRPr/>
          </a:p>
        </p:txBody>
      </p:sp>
      <p:sp>
        <p:nvSpPr>
          <p:cNvPr id="453390699" name="Rounded Rectangle 10"/>
          <p:cNvSpPr/>
          <p:nvPr/>
        </p:nvSpPr>
        <p:spPr bwMode="auto">
          <a:xfrm>
            <a:off x="3246120" y="1508759"/>
            <a:ext cx="2240280" cy="1051560"/>
          </a:xfrm>
          <a:prstGeom prst="roundRect">
            <a:avLst>
              <a:gd name="adj" fmla="val 16667"/>
            </a:avLst>
          </a:prstGeom>
          <a:solidFill>
            <a:srgbClr val="161E42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44415219" name="TextBox 11"/>
          <p:cNvSpPr txBox="1"/>
          <p:nvPr/>
        </p:nvSpPr>
        <p:spPr bwMode="auto">
          <a:xfrm>
            <a:off x="3410712" y="1636776"/>
            <a:ext cx="1911096" cy="3291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2000" b="1">
                <a:solidFill>
                  <a:srgbClr val="F5F8FF"/>
                </a:solidFill>
                <a:latin typeface="Aptos"/>
              </a:rPr>
              <a:t>~670 ₽/мес</a:t>
            </a:r>
            <a:endParaRPr/>
          </a:p>
        </p:txBody>
      </p:sp>
      <p:sp>
        <p:nvSpPr>
          <p:cNvPr id="1101297671" name="TextBox 12"/>
          <p:cNvSpPr txBox="1"/>
          <p:nvPr/>
        </p:nvSpPr>
        <p:spPr bwMode="auto">
          <a:xfrm>
            <a:off x="3410712" y="2011680"/>
            <a:ext cx="1911096" cy="2103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900" b="1">
                <a:solidFill>
                  <a:srgbClr val="A78BFA"/>
                </a:solidFill>
                <a:latin typeface="Aptos"/>
              </a:rPr>
              <a:t>ARPNU</a:t>
            </a:r>
            <a:endParaRPr/>
          </a:p>
        </p:txBody>
      </p:sp>
      <p:sp>
        <p:nvSpPr>
          <p:cNvPr id="1764340980" name="TextBox 13"/>
          <p:cNvSpPr txBox="1"/>
          <p:nvPr/>
        </p:nvSpPr>
        <p:spPr bwMode="auto">
          <a:xfrm>
            <a:off x="3410712" y="2258568"/>
            <a:ext cx="1911096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800" b="0">
                <a:solidFill>
                  <a:srgbClr val="ACB8D6"/>
                </a:solidFill>
                <a:latin typeface="Aptos"/>
              </a:rPr>
              <a:t>на нового платящего пользователя</a:t>
            </a:r>
            <a:endParaRPr/>
          </a:p>
        </p:txBody>
      </p:sp>
      <p:sp>
        <p:nvSpPr>
          <p:cNvPr id="540822150" name="Rounded Rectangle 14"/>
          <p:cNvSpPr/>
          <p:nvPr/>
        </p:nvSpPr>
        <p:spPr bwMode="auto">
          <a:xfrm>
            <a:off x="5715000" y="1508759"/>
            <a:ext cx="2240280" cy="1051560"/>
          </a:xfrm>
          <a:prstGeom prst="roundRect">
            <a:avLst>
              <a:gd name="adj" fmla="val 16667"/>
            </a:avLst>
          </a:prstGeom>
          <a:solidFill>
            <a:srgbClr val="161E42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70483478" name="TextBox 15"/>
          <p:cNvSpPr txBox="1"/>
          <p:nvPr/>
        </p:nvSpPr>
        <p:spPr bwMode="auto">
          <a:xfrm>
            <a:off x="5879592" y="1636776"/>
            <a:ext cx="1911096" cy="3291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2000" b="1">
                <a:solidFill>
                  <a:srgbClr val="F5F8FF"/>
                </a:solidFill>
                <a:latin typeface="Aptos"/>
              </a:rPr>
              <a:t>~78%</a:t>
            </a:r>
            <a:endParaRPr/>
          </a:p>
        </p:txBody>
      </p:sp>
      <p:sp>
        <p:nvSpPr>
          <p:cNvPr id="1156180413" name="TextBox 16"/>
          <p:cNvSpPr txBox="1"/>
          <p:nvPr/>
        </p:nvSpPr>
        <p:spPr bwMode="auto">
          <a:xfrm>
            <a:off x="5879592" y="2011680"/>
            <a:ext cx="1911096" cy="2103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900" b="1">
                <a:solidFill>
                  <a:srgbClr val="22D3EE"/>
                </a:solidFill>
                <a:latin typeface="Aptos"/>
              </a:rPr>
              <a:t>Retention</a:t>
            </a:r>
            <a:endParaRPr/>
          </a:p>
        </p:txBody>
      </p:sp>
      <p:sp>
        <p:nvSpPr>
          <p:cNvPr id="681573663" name="TextBox 17"/>
          <p:cNvSpPr txBox="1"/>
          <p:nvPr/>
        </p:nvSpPr>
        <p:spPr bwMode="auto">
          <a:xfrm>
            <a:off x="5879592" y="2258568"/>
            <a:ext cx="1911096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800" b="0">
                <a:solidFill>
                  <a:srgbClr val="ACB8D6"/>
                </a:solidFill>
                <a:latin typeface="Aptos"/>
              </a:rPr>
              <a:t>monthly retention</a:t>
            </a:r>
            <a:endParaRPr/>
          </a:p>
        </p:txBody>
      </p:sp>
      <p:sp>
        <p:nvSpPr>
          <p:cNvPr id="548044824" name="Rounded Rectangle 18"/>
          <p:cNvSpPr/>
          <p:nvPr/>
        </p:nvSpPr>
        <p:spPr bwMode="auto">
          <a:xfrm>
            <a:off x="8183879" y="1508759"/>
            <a:ext cx="2514600" cy="1051560"/>
          </a:xfrm>
          <a:prstGeom prst="roundRect">
            <a:avLst>
              <a:gd name="adj" fmla="val 16667"/>
            </a:avLst>
          </a:prstGeom>
          <a:solidFill>
            <a:srgbClr val="161E42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84255597" name="TextBox 19"/>
          <p:cNvSpPr txBox="1"/>
          <p:nvPr/>
        </p:nvSpPr>
        <p:spPr bwMode="auto">
          <a:xfrm>
            <a:off x="8348471" y="1636776"/>
            <a:ext cx="2185416" cy="3291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2000" b="1">
                <a:solidFill>
                  <a:srgbClr val="F5F8FF"/>
                </a:solidFill>
                <a:latin typeface="Aptos"/>
              </a:rPr>
              <a:t>&gt;4x</a:t>
            </a:r>
            <a:endParaRPr/>
          </a:p>
        </p:txBody>
      </p:sp>
      <p:sp>
        <p:nvSpPr>
          <p:cNvPr id="604077596" name="TextBox 20"/>
          <p:cNvSpPr txBox="1"/>
          <p:nvPr/>
        </p:nvSpPr>
        <p:spPr bwMode="auto">
          <a:xfrm>
            <a:off x="8348471" y="2011680"/>
            <a:ext cx="2185416" cy="2103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900" b="1">
                <a:solidFill>
                  <a:srgbClr val="4ADE80"/>
                </a:solidFill>
                <a:latin typeface="Aptos"/>
              </a:rPr>
              <a:t>LTV / CAC</a:t>
            </a:r>
            <a:endParaRPr/>
          </a:p>
        </p:txBody>
      </p:sp>
      <p:sp>
        <p:nvSpPr>
          <p:cNvPr id="688559993" name="TextBox 21"/>
          <p:cNvSpPr txBox="1"/>
          <p:nvPr/>
        </p:nvSpPr>
        <p:spPr bwMode="auto">
          <a:xfrm>
            <a:off x="8348471" y="2258568"/>
            <a:ext cx="2185416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800" b="0">
                <a:solidFill>
                  <a:srgbClr val="ACB8D6"/>
                </a:solidFill>
                <a:latin typeface="Aptos"/>
              </a:rPr>
              <a:t>LTV 1 916+ ₽, CAC ~450 ₽</a:t>
            </a:r>
            <a:endParaRPr/>
          </a:p>
        </p:txBody>
      </p:sp>
      <p:sp>
        <p:nvSpPr>
          <p:cNvPr id="396807410" name="TextBox 22"/>
          <p:cNvSpPr txBox="1"/>
          <p:nvPr/>
        </p:nvSpPr>
        <p:spPr bwMode="auto">
          <a:xfrm>
            <a:off x="1097280" y="3246120"/>
            <a:ext cx="9326880" cy="1783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5F8FF"/>
                </a:solidFill>
                <a:latin typeface="Aptos"/>
              </a:defRPr>
            </a:pPr>
            <a:r>
              <a:rPr/>
              <a:t>6 месяцев: 5 000+ платящих пользователей.</a:t>
            </a:r>
            <a:endParaRPr/>
          </a:p>
          <a:p>
            <a:pPr>
              <a:spcAft>
                <a:spcPts val="700"/>
              </a:spcAft>
              <a:defRPr sz="1600">
                <a:solidFill>
                  <a:srgbClr val="F5F8FF"/>
                </a:solidFill>
                <a:latin typeface="Aptos"/>
              </a:defRPr>
            </a:pPr>
            <a:r>
              <a:rPr/>
              <a:t>9 месяцев: 20 000+ платящих пользователей.</a:t>
            </a:r>
            <a:endParaRPr/>
          </a:p>
          <a:p>
            <a:pPr>
              <a:spcAft>
                <a:spcPts val="700"/>
              </a:spcAft>
              <a:defRPr sz="1600">
                <a:solidFill>
                  <a:srgbClr val="F5F8FF"/>
                </a:solidFill>
                <a:latin typeface="Aptos"/>
              </a:defRPr>
            </a:pPr>
            <a:r>
              <a:rPr/>
              <a:t>12 месяцев: 50 000+ платящих пользователей.</a:t>
            </a:r>
            <a:endParaRPr/>
          </a:p>
          <a:p>
            <a:pPr>
              <a:spcAft>
                <a:spcPts val="700"/>
              </a:spcAft>
              <a:defRPr sz="1600">
                <a:solidFill>
                  <a:srgbClr val="F5F8FF"/>
                </a:solidFill>
                <a:latin typeface="Aptos"/>
              </a:defRPr>
            </a:pPr>
            <a:r>
              <a:rPr/>
              <a:t>Операционная прибыль: 6-7 месяц.</a:t>
            </a:r>
            <a:endParaRPr/>
          </a:p>
          <a:p>
            <a:pPr>
              <a:spcAft>
                <a:spcPts val="700"/>
              </a:spcAft>
              <a:defRPr sz="1600">
                <a:solidFill>
                  <a:srgbClr val="F5F8FF"/>
                </a:solidFill>
                <a:latin typeface="Aptos"/>
              </a:defRPr>
            </a:pPr>
            <a:r>
              <a:rPr/>
              <a:t>Прогнозируемая оценка к Seed: 300+ млн ₽.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3852711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507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17500992" name="TextBox 2"/>
          <p:cNvSpPr txBox="1"/>
          <p:nvPr/>
        </p:nvSpPr>
        <p:spPr bwMode="auto">
          <a:xfrm>
            <a:off x="658368" y="411480"/>
            <a:ext cx="804672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2800" b="1">
                <a:solidFill>
                  <a:srgbClr val="F5F8FF"/>
                </a:solidFill>
                <a:latin typeface="Aptos"/>
              </a:rPr>
              <a:t>Roadmap и управление рисками</a:t>
            </a:r>
            <a:endParaRPr/>
          </a:p>
        </p:txBody>
      </p:sp>
      <p:sp>
        <p:nvSpPr>
          <p:cNvPr id="1872627148" name="TextBox 3"/>
          <p:cNvSpPr txBox="1"/>
          <p:nvPr/>
        </p:nvSpPr>
        <p:spPr bwMode="auto">
          <a:xfrm>
            <a:off x="685800" y="987552"/>
            <a:ext cx="8595360" cy="3291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60A5FA"/>
                </a:solidFill>
                <a:latin typeface="Aptos"/>
              </a:rPr>
              <a:t>План роста + контроль качества AI и приватности</a:t>
            </a:r>
            <a:endParaRPr/>
          </a:p>
        </p:txBody>
      </p:sp>
      <p:sp>
        <p:nvSpPr>
          <p:cNvPr id="835681716" name="TextBox 4"/>
          <p:cNvSpPr txBox="1"/>
          <p:nvPr/>
        </p:nvSpPr>
        <p:spPr bwMode="auto">
          <a:xfrm>
            <a:off x="658368" y="6419088"/>
            <a:ext cx="137160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800" b="1">
                <a:solidFill>
                  <a:srgbClr val="ACB8D6"/>
                </a:solidFill>
                <a:latin typeface="Aptos"/>
              </a:rPr>
              <a:t>SERENITY</a:t>
            </a:r>
            <a:endParaRPr/>
          </a:p>
        </p:txBody>
      </p:sp>
      <p:sp>
        <p:nvSpPr>
          <p:cNvPr id="454550927" name="TextBox 5"/>
          <p:cNvSpPr txBox="1"/>
          <p:nvPr/>
        </p:nvSpPr>
        <p:spPr bwMode="auto">
          <a:xfrm>
            <a:off x="11082528" y="6400800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defRPr/>
            </a:pPr>
            <a:r>
              <a:rPr sz="800" b="0">
                <a:solidFill>
                  <a:srgbClr val="ACB8D6"/>
                </a:solidFill>
                <a:latin typeface="Aptos"/>
              </a:rPr>
              <a:t>13</a:t>
            </a:r>
            <a:endParaRPr/>
          </a:p>
        </p:txBody>
      </p:sp>
      <p:sp>
        <p:nvSpPr>
          <p:cNvPr id="1413218199" name="Rounded Rectangle 6"/>
          <p:cNvSpPr/>
          <p:nvPr/>
        </p:nvSpPr>
        <p:spPr bwMode="auto">
          <a:xfrm>
            <a:off x="685800" y="1810512"/>
            <a:ext cx="2057400" cy="1554480"/>
          </a:xfrm>
          <a:prstGeom prst="roundRect">
            <a:avLst>
              <a:gd name="adj" fmla="val 16667"/>
            </a:avLst>
          </a:prstGeom>
          <a:solidFill>
            <a:srgbClr val="101630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570355" name="TextBox 7"/>
          <p:cNvSpPr txBox="1"/>
          <p:nvPr/>
        </p:nvSpPr>
        <p:spPr bwMode="auto">
          <a:xfrm>
            <a:off x="886968" y="1975104"/>
            <a:ext cx="1658302" cy="28382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lang="ru-RU" sz="1500" b="1">
                <a:solidFill>
                  <a:srgbClr val="F5F8FF"/>
                </a:solidFill>
                <a:latin typeface="Aptos"/>
              </a:rPr>
              <a:t>Сентябрь </a:t>
            </a:r>
            <a:r>
              <a:rPr sz="1500" b="1">
                <a:solidFill>
                  <a:srgbClr val="F5F8FF"/>
                </a:solidFill>
                <a:latin typeface="Aptos"/>
              </a:rPr>
              <a:t>2026</a:t>
            </a:r>
            <a:endParaRPr/>
          </a:p>
        </p:txBody>
      </p:sp>
      <p:sp>
        <p:nvSpPr>
          <p:cNvPr id="755956747" name="TextBox 8"/>
          <p:cNvSpPr txBox="1"/>
          <p:nvPr/>
        </p:nvSpPr>
        <p:spPr bwMode="auto">
          <a:xfrm>
            <a:off x="886968" y="2340864"/>
            <a:ext cx="1655063" cy="8961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900" b="0">
                <a:solidFill>
                  <a:srgbClr val="ACB8D6"/>
                </a:solidFill>
                <a:latin typeface="Aptos"/>
              </a:rPr>
              <a:t>MVP Web, AI-контур и первый фидбек.</a:t>
            </a:r>
            <a:endParaRPr/>
          </a:p>
        </p:txBody>
      </p:sp>
      <p:sp>
        <p:nvSpPr>
          <p:cNvPr id="64851159" name="Rounded Rectangle 9"/>
          <p:cNvSpPr/>
          <p:nvPr/>
        </p:nvSpPr>
        <p:spPr bwMode="auto">
          <a:xfrm>
            <a:off x="2926080" y="1810512"/>
            <a:ext cx="2057400" cy="1554480"/>
          </a:xfrm>
          <a:prstGeom prst="roundRect">
            <a:avLst>
              <a:gd name="adj" fmla="val 16667"/>
            </a:avLst>
          </a:prstGeom>
          <a:solidFill>
            <a:srgbClr val="101630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34536414" name="TextBox 10"/>
          <p:cNvSpPr txBox="1"/>
          <p:nvPr/>
        </p:nvSpPr>
        <p:spPr bwMode="auto">
          <a:xfrm>
            <a:off x="3127248" y="1975104"/>
            <a:ext cx="1658302" cy="28382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lang="ru-RU" sz="1500" b="1">
                <a:solidFill>
                  <a:srgbClr val="F5F8FF"/>
                </a:solidFill>
                <a:latin typeface="Aptos"/>
              </a:rPr>
              <a:t>Ноябрь </a:t>
            </a:r>
            <a:r>
              <a:rPr sz="1500" b="1">
                <a:solidFill>
                  <a:srgbClr val="F5F8FF"/>
                </a:solidFill>
                <a:latin typeface="Aptos"/>
              </a:rPr>
              <a:t>2026</a:t>
            </a:r>
            <a:endParaRPr/>
          </a:p>
        </p:txBody>
      </p:sp>
      <p:sp>
        <p:nvSpPr>
          <p:cNvPr id="1651021185" name="TextBox 11"/>
          <p:cNvSpPr txBox="1"/>
          <p:nvPr/>
        </p:nvSpPr>
        <p:spPr bwMode="auto">
          <a:xfrm>
            <a:off x="3127248" y="2340864"/>
            <a:ext cx="1655063" cy="8961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900" b="0">
                <a:solidFill>
                  <a:srgbClr val="ACB8D6"/>
                </a:solidFill>
                <a:latin typeface="Aptos"/>
              </a:rPr>
              <a:t>Новые функции, mobile prep, цель 5 000+ пользователей.</a:t>
            </a:r>
            <a:endParaRPr/>
          </a:p>
        </p:txBody>
      </p:sp>
      <p:sp>
        <p:nvSpPr>
          <p:cNvPr id="955857925" name="Rounded Rectangle 12"/>
          <p:cNvSpPr/>
          <p:nvPr/>
        </p:nvSpPr>
        <p:spPr bwMode="auto">
          <a:xfrm>
            <a:off x="5166360" y="1810512"/>
            <a:ext cx="2057400" cy="1554480"/>
          </a:xfrm>
          <a:prstGeom prst="roundRect">
            <a:avLst>
              <a:gd name="adj" fmla="val 16667"/>
            </a:avLst>
          </a:prstGeom>
          <a:solidFill>
            <a:srgbClr val="101630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051385" name="TextBox 13"/>
          <p:cNvSpPr txBox="1"/>
          <p:nvPr/>
        </p:nvSpPr>
        <p:spPr bwMode="auto">
          <a:xfrm>
            <a:off x="5367528" y="1975104"/>
            <a:ext cx="1661182" cy="28382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lang="ru-RU" sz="1500" b="1">
                <a:solidFill>
                  <a:srgbClr val="F5F8FF"/>
                </a:solidFill>
                <a:latin typeface="Aptos"/>
              </a:rPr>
              <a:t>Февраль </a:t>
            </a:r>
            <a:r>
              <a:rPr sz="1500" b="1">
                <a:solidFill>
                  <a:srgbClr val="F5F8FF"/>
                </a:solidFill>
                <a:latin typeface="Aptos"/>
              </a:rPr>
              <a:t>202</a:t>
            </a:r>
            <a:r>
              <a:rPr lang="ru-RU" sz="1500" b="1">
                <a:solidFill>
                  <a:srgbClr val="F5F8FF"/>
                </a:solidFill>
                <a:latin typeface="Aptos"/>
              </a:rPr>
              <a:t>7</a:t>
            </a:r>
            <a:endParaRPr/>
          </a:p>
        </p:txBody>
      </p:sp>
      <p:sp>
        <p:nvSpPr>
          <p:cNvPr id="1807134925" name="TextBox 14"/>
          <p:cNvSpPr txBox="1"/>
          <p:nvPr/>
        </p:nvSpPr>
        <p:spPr bwMode="auto">
          <a:xfrm>
            <a:off x="5367528" y="2340864"/>
            <a:ext cx="1655063" cy="8961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900" b="0">
                <a:solidFill>
                  <a:srgbClr val="ACB8D6"/>
                </a:solidFill>
                <a:latin typeface="Aptos"/>
              </a:rPr>
              <a:t>Mobile apps, тесты СНГ, цель 20 000+ пользователей.</a:t>
            </a:r>
            <a:endParaRPr/>
          </a:p>
        </p:txBody>
      </p:sp>
      <p:sp>
        <p:nvSpPr>
          <p:cNvPr id="1361795691" name="Rounded Rectangle 15"/>
          <p:cNvSpPr/>
          <p:nvPr/>
        </p:nvSpPr>
        <p:spPr bwMode="auto">
          <a:xfrm>
            <a:off x="7406640" y="1810512"/>
            <a:ext cx="2057400" cy="1554480"/>
          </a:xfrm>
          <a:prstGeom prst="roundRect">
            <a:avLst>
              <a:gd name="adj" fmla="val 16667"/>
            </a:avLst>
          </a:prstGeom>
          <a:solidFill>
            <a:srgbClr val="101630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36908089" name="TextBox 16"/>
          <p:cNvSpPr txBox="1"/>
          <p:nvPr/>
        </p:nvSpPr>
        <p:spPr bwMode="auto">
          <a:xfrm>
            <a:off x="7607808" y="1975104"/>
            <a:ext cx="1667302" cy="28382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lang="ru-RU" sz="1500" b="1">
                <a:solidFill>
                  <a:srgbClr val="F5F8FF"/>
                </a:solidFill>
                <a:latin typeface="Aptos"/>
              </a:rPr>
              <a:t>Сентябрь </a:t>
            </a:r>
            <a:r>
              <a:rPr sz="1500" b="1">
                <a:solidFill>
                  <a:srgbClr val="F5F8FF"/>
                </a:solidFill>
                <a:latin typeface="Aptos"/>
              </a:rPr>
              <a:t>2027</a:t>
            </a:r>
            <a:endParaRPr/>
          </a:p>
        </p:txBody>
      </p:sp>
      <p:sp>
        <p:nvSpPr>
          <p:cNvPr id="1880426671" name="TextBox 17"/>
          <p:cNvSpPr txBox="1"/>
          <p:nvPr/>
        </p:nvSpPr>
        <p:spPr bwMode="auto">
          <a:xfrm>
            <a:off x="7607808" y="2340864"/>
            <a:ext cx="1655063" cy="8961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900" b="0">
                <a:solidFill>
                  <a:srgbClr val="ACB8D6"/>
                </a:solidFill>
                <a:latin typeface="Aptos"/>
              </a:rPr>
              <a:t>Новые сервисы, партнерства, цель 50 000+ пользователей.</a:t>
            </a:r>
            <a:endParaRPr/>
          </a:p>
        </p:txBody>
      </p:sp>
      <p:sp>
        <p:nvSpPr>
          <p:cNvPr id="1113747211" name="Rounded Rectangle 18"/>
          <p:cNvSpPr/>
          <p:nvPr/>
        </p:nvSpPr>
        <p:spPr bwMode="auto">
          <a:xfrm>
            <a:off x="9646920" y="1810512"/>
            <a:ext cx="1828800" cy="1554480"/>
          </a:xfrm>
          <a:prstGeom prst="roundRect">
            <a:avLst>
              <a:gd name="adj" fmla="val 16667"/>
            </a:avLst>
          </a:prstGeom>
          <a:solidFill>
            <a:srgbClr val="101630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32480423" name="TextBox 19"/>
          <p:cNvSpPr txBox="1"/>
          <p:nvPr/>
        </p:nvSpPr>
        <p:spPr bwMode="auto">
          <a:xfrm>
            <a:off x="9848088" y="1975104"/>
            <a:ext cx="1426464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1500" b="1">
                <a:solidFill>
                  <a:srgbClr val="F5F8FF"/>
                </a:solidFill>
                <a:latin typeface="Aptos"/>
              </a:rPr>
              <a:t>2028-2029+</a:t>
            </a:r>
            <a:endParaRPr/>
          </a:p>
        </p:txBody>
      </p:sp>
      <p:sp>
        <p:nvSpPr>
          <p:cNvPr id="2108421446" name="TextBox 20"/>
          <p:cNvSpPr txBox="1"/>
          <p:nvPr/>
        </p:nvSpPr>
        <p:spPr bwMode="auto">
          <a:xfrm>
            <a:off x="9848088" y="2340864"/>
            <a:ext cx="1426464" cy="8961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900" b="0">
                <a:solidFill>
                  <a:srgbClr val="ACB8D6"/>
                </a:solidFill>
                <a:latin typeface="Aptos"/>
              </a:rPr>
              <a:t>Европа и США, цель 100 000+ пользователей.</a:t>
            </a:r>
            <a:endParaRPr/>
          </a:p>
        </p:txBody>
      </p:sp>
      <p:sp>
        <p:nvSpPr>
          <p:cNvPr id="790311677" name="TextBox 21"/>
          <p:cNvSpPr txBox="1"/>
          <p:nvPr/>
        </p:nvSpPr>
        <p:spPr bwMode="auto">
          <a:xfrm>
            <a:off x="685799" y="4007100"/>
            <a:ext cx="10058400" cy="1417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F5F8FF"/>
                </a:solidFill>
                <a:latin typeface="Aptos"/>
              </a:defRPr>
            </a:pPr>
            <a:r>
              <a:rPr/>
              <a:t>Кризисные реакции AI: SOS-протокол и ограничения по рискованным советам.</a:t>
            </a:r>
            <a:endParaRPr/>
          </a:p>
          <a:p>
            <a:pPr>
              <a:spcAft>
                <a:spcPts val="700"/>
              </a:spcAft>
              <a:defRPr sz="1400">
                <a:solidFill>
                  <a:srgbClr val="F5F8FF"/>
                </a:solidFill>
                <a:latin typeface="Aptos"/>
              </a:defRPr>
            </a:pPr>
            <a:r>
              <a:rPr/>
              <a:t>Компрометация данных: privacy by design, анонимность, шифрование.</a:t>
            </a:r>
            <a:endParaRPr/>
          </a:p>
          <a:p>
            <a:pPr>
              <a:spcAft>
                <a:spcPts val="700"/>
              </a:spcAft>
              <a:defRPr sz="1400">
                <a:solidFill>
                  <a:srgbClr val="F5F8FF"/>
                </a:solidFill>
                <a:latin typeface="Aptos"/>
              </a:defRPr>
            </a:pPr>
            <a:r>
              <a:rPr/>
              <a:t>Качество ответов: двухконтурная архитектура и постоянное улучшение сценариев.</a:t>
            </a:r>
            <a:endParaRPr/>
          </a:p>
          <a:p>
            <a:pPr>
              <a:spcAft>
                <a:spcPts val="700"/>
              </a:spcAft>
              <a:defRPr sz="1400">
                <a:solidFill>
                  <a:srgbClr val="F5F8FF"/>
                </a:solidFill>
                <a:latin typeface="Aptos"/>
              </a:defRPr>
            </a:pPr>
            <a:r>
              <a:rPr/>
              <a:t>Копирование: защита через продуктовую историю, данные пользователя и качество интерфейса.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1392783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507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5581464" name="TextBox 2"/>
          <p:cNvSpPr txBox="1"/>
          <p:nvPr/>
        </p:nvSpPr>
        <p:spPr bwMode="auto">
          <a:xfrm>
            <a:off x="658368" y="411480"/>
            <a:ext cx="804672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2800" b="1">
                <a:solidFill>
                  <a:srgbClr val="F5F8FF"/>
                </a:solidFill>
                <a:latin typeface="Aptos"/>
              </a:rPr>
              <a:t>Капитал для достижения ключевых вех</a:t>
            </a:r>
            <a:endParaRPr/>
          </a:p>
        </p:txBody>
      </p:sp>
      <p:sp>
        <p:nvSpPr>
          <p:cNvPr id="2022505609" name="TextBox 3"/>
          <p:cNvSpPr txBox="1"/>
          <p:nvPr/>
        </p:nvSpPr>
        <p:spPr bwMode="auto">
          <a:xfrm>
            <a:off x="685800" y="987552"/>
            <a:ext cx="8595360" cy="3291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60A5FA"/>
                </a:solidFill>
                <a:latin typeface="Aptos"/>
              </a:rPr>
              <a:t>Pre-seed запрос: 5 млн ₽</a:t>
            </a:r>
            <a:endParaRPr/>
          </a:p>
        </p:txBody>
      </p:sp>
      <p:sp>
        <p:nvSpPr>
          <p:cNvPr id="1454002295" name="TextBox 4"/>
          <p:cNvSpPr txBox="1"/>
          <p:nvPr/>
        </p:nvSpPr>
        <p:spPr bwMode="auto">
          <a:xfrm>
            <a:off x="658368" y="6419088"/>
            <a:ext cx="137160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800" b="1">
                <a:solidFill>
                  <a:srgbClr val="ACB8D6"/>
                </a:solidFill>
                <a:latin typeface="Aptos"/>
              </a:rPr>
              <a:t>SERENITY</a:t>
            </a:r>
            <a:endParaRPr/>
          </a:p>
        </p:txBody>
      </p:sp>
      <p:sp>
        <p:nvSpPr>
          <p:cNvPr id="320448739" name="TextBox 5"/>
          <p:cNvSpPr txBox="1"/>
          <p:nvPr/>
        </p:nvSpPr>
        <p:spPr bwMode="auto">
          <a:xfrm>
            <a:off x="11082528" y="6400800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defRPr/>
            </a:pPr>
            <a:r>
              <a:rPr sz="800" b="0">
                <a:solidFill>
                  <a:srgbClr val="ACB8D6"/>
                </a:solidFill>
                <a:latin typeface="Aptos"/>
              </a:rPr>
              <a:t>14</a:t>
            </a:r>
            <a:endParaRPr/>
          </a:p>
        </p:txBody>
      </p:sp>
      <p:sp>
        <p:nvSpPr>
          <p:cNvPr id="386814027" name="TextBox 6"/>
          <p:cNvSpPr txBox="1"/>
          <p:nvPr/>
        </p:nvSpPr>
        <p:spPr bwMode="auto">
          <a:xfrm>
            <a:off x="822960" y="1600200"/>
            <a:ext cx="5806440" cy="7132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2900" b="1">
                <a:solidFill>
                  <a:srgbClr val="F5F8FF"/>
                </a:solidFill>
                <a:latin typeface="Aptos"/>
              </a:rPr>
              <a:t>Мы привлекаем 5 млн ₽</a:t>
            </a:r>
            <a:endParaRPr/>
          </a:p>
        </p:txBody>
      </p:sp>
      <p:sp>
        <p:nvSpPr>
          <p:cNvPr id="1899343181" name="TextBox 7"/>
          <p:cNvSpPr txBox="1"/>
          <p:nvPr/>
        </p:nvSpPr>
        <p:spPr bwMode="auto">
          <a:xfrm>
            <a:off x="868680" y="2487168"/>
            <a:ext cx="5394960" cy="8412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1500" b="0">
                <a:solidFill>
                  <a:srgbClr val="ACB8D6"/>
                </a:solidFill>
                <a:latin typeface="Aptos"/>
              </a:rPr>
              <a:t>Сумма обеспечивает runway на 12+ месяцев, покрывает прогнозируемый пиковый убыток 3.5 млн ₽ и включает 30% резерв.</a:t>
            </a:r>
            <a:endParaRPr/>
          </a:p>
        </p:txBody>
      </p:sp>
      <p:sp>
        <p:nvSpPr>
          <p:cNvPr id="1816361782" name="Rounded Rectangle 8"/>
          <p:cNvSpPr/>
          <p:nvPr/>
        </p:nvSpPr>
        <p:spPr bwMode="auto">
          <a:xfrm>
            <a:off x="6629400" y="1645920"/>
            <a:ext cx="2194560" cy="1143000"/>
          </a:xfrm>
          <a:prstGeom prst="roundRect">
            <a:avLst>
              <a:gd name="adj" fmla="val 16667"/>
            </a:avLst>
          </a:prstGeom>
          <a:solidFill>
            <a:srgbClr val="161E42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99175804" name="TextBox 9"/>
          <p:cNvSpPr txBox="1"/>
          <p:nvPr/>
        </p:nvSpPr>
        <p:spPr bwMode="auto">
          <a:xfrm>
            <a:off x="6793992" y="1773936"/>
            <a:ext cx="1865376" cy="3291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2000" b="1">
                <a:solidFill>
                  <a:srgbClr val="F5F8FF"/>
                </a:solidFill>
                <a:latin typeface="Aptos"/>
              </a:rPr>
              <a:t>50 000+</a:t>
            </a:r>
            <a:endParaRPr/>
          </a:p>
        </p:txBody>
      </p:sp>
      <p:sp>
        <p:nvSpPr>
          <p:cNvPr id="156199226" name="TextBox 10"/>
          <p:cNvSpPr txBox="1"/>
          <p:nvPr/>
        </p:nvSpPr>
        <p:spPr bwMode="auto">
          <a:xfrm>
            <a:off x="6793992" y="2148840"/>
            <a:ext cx="1865376" cy="2103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900" b="1">
                <a:solidFill>
                  <a:srgbClr val="60A5FA"/>
                </a:solidFill>
                <a:latin typeface="Aptos"/>
              </a:rPr>
              <a:t>цель 12 месяцев</a:t>
            </a:r>
            <a:endParaRPr/>
          </a:p>
        </p:txBody>
      </p:sp>
      <p:sp>
        <p:nvSpPr>
          <p:cNvPr id="331909770" name="TextBox 11"/>
          <p:cNvSpPr txBox="1"/>
          <p:nvPr/>
        </p:nvSpPr>
        <p:spPr bwMode="auto">
          <a:xfrm>
            <a:off x="6793992" y="2395728"/>
            <a:ext cx="1865376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800" b="0">
                <a:solidFill>
                  <a:srgbClr val="ACB8D6"/>
                </a:solidFill>
                <a:latin typeface="Aptos"/>
              </a:rPr>
              <a:t>платящих пользователей</a:t>
            </a:r>
            <a:endParaRPr/>
          </a:p>
        </p:txBody>
      </p:sp>
      <p:sp>
        <p:nvSpPr>
          <p:cNvPr id="996555123" name="Rounded Rectangle 12"/>
          <p:cNvSpPr/>
          <p:nvPr/>
        </p:nvSpPr>
        <p:spPr bwMode="auto">
          <a:xfrm>
            <a:off x="9098280" y="1645920"/>
            <a:ext cx="2194560" cy="1143000"/>
          </a:xfrm>
          <a:prstGeom prst="roundRect">
            <a:avLst>
              <a:gd name="adj" fmla="val 16667"/>
            </a:avLst>
          </a:prstGeom>
          <a:solidFill>
            <a:srgbClr val="161E42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8323082" name="TextBox 13"/>
          <p:cNvSpPr txBox="1"/>
          <p:nvPr/>
        </p:nvSpPr>
        <p:spPr bwMode="auto">
          <a:xfrm>
            <a:off x="9262872" y="1773936"/>
            <a:ext cx="1865376" cy="3291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2000" b="1">
                <a:solidFill>
                  <a:srgbClr val="F5F8FF"/>
                </a:solidFill>
                <a:latin typeface="Aptos"/>
              </a:rPr>
              <a:t>6-7 месяц</a:t>
            </a:r>
            <a:endParaRPr/>
          </a:p>
        </p:txBody>
      </p:sp>
      <p:sp>
        <p:nvSpPr>
          <p:cNvPr id="94505740" name="TextBox 14"/>
          <p:cNvSpPr txBox="1"/>
          <p:nvPr/>
        </p:nvSpPr>
        <p:spPr bwMode="auto">
          <a:xfrm>
            <a:off x="9262872" y="2148840"/>
            <a:ext cx="1865376" cy="2103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900" b="1">
                <a:solidFill>
                  <a:srgbClr val="4ADE80"/>
                </a:solidFill>
                <a:latin typeface="Aptos"/>
              </a:rPr>
              <a:t>финансы</a:t>
            </a:r>
            <a:endParaRPr/>
          </a:p>
        </p:txBody>
      </p:sp>
      <p:sp>
        <p:nvSpPr>
          <p:cNvPr id="675513377" name="TextBox 15"/>
          <p:cNvSpPr txBox="1"/>
          <p:nvPr/>
        </p:nvSpPr>
        <p:spPr bwMode="auto">
          <a:xfrm>
            <a:off x="9262872" y="2395728"/>
            <a:ext cx="1865376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800" b="0">
                <a:solidFill>
                  <a:srgbClr val="ACB8D6"/>
                </a:solidFill>
                <a:latin typeface="Aptos"/>
              </a:rPr>
              <a:t>операционная прибыль</a:t>
            </a:r>
            <a:endParaRPr/>
          </a:p>
        </p:txBody>
      </p:sp>
      <p:sp>
        <p:nvSpPr>
          <p:cNvPr id="1327689696" name="Rounded Rectangle 16"/>
          <p:cNvSpPr/>
          <p:nvPr/>
        </p:nvSpPr>
        <p:spPr bwMode="auto">
          <a:xfrm>
            <a:off x="6629400" y="3154680"/>
            <a:ext cx="2194560" cy="1143000"/>
          </a:xfrm>
          <a:prstGeom prst="roundRect">
            <a:avLst>
              <a:gd name="adj" fmla="val 16667"/>
            </a:avLst>
          </a:prstGeom>
          <a:solidFill>
            <a:srgbClr val="161E42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77028677" name="TextBox 17"/>
          <p:cNvSpPr txBox="1"/>
          <p:nvPr/>
        </p:nvSpPr>
        <p:spPr bwMode="auto">
          <a:xfrm>
            <a:off x="6793992" y="3282696"/>
            <a:ext cx="1865376" cy="3291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2000" b="1">
                <a:solidFill>
                  <a:srgbClr val="F5F8FF"/>
                </a:solidFill>
                <a:latin typeface="Aptos"/>
              </a:rPr>
              <a:t>300+ млн ₽</a:t>
            </a:r>
            <a:endParaRPr/>
          </a:p>
        </p:txBody>
      </p:sp>
      <p:sp>
        <p:nvSpPr>
          <p:cNvPr id="864670839" name="TextBox 18"/>
          <p:cNvSpPr txBox="1"/>
          <p:nvPr/>
        </p:nvSpPr>
        <p:spPr bwMode="auto">
          <a:xfrm>
            <a:off x="6793992" y="3657600"/>
            <a:ext cx="1865376" cy="2103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900" b="1">
                <a:solidFill>
                  <a:srgbClr val="A78BFA"/>
                </a:solidFill>
                <a:latin typeface="Aptos"/>
              </a:rPr>
              <a:t>следующий раунд</a:t>
            </a:r>
            <a:endParaRPr/>
          </a:p>
        </p:txBody>
      </p:sp>
      <p:sp>
        <p:nvSpPr>
          <p:cNvPr id="1367365020" name="TextBox 19"/>
          <p:cNvSpPr txBox="1"/>
          <p:nvPr/>
        </p:nvSpPr>
        <p:spPr bwMode="auto">
          <a:xfrm>
            <a:off x="6793992" y="3904488"/>
            <a:ext cx="1865376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800" b="0">
                <a:solidFill>
                  <a:srgbClr val="ACB8D6"/>
                </a:solidFill>
                <a:latin typeface="Aptos"/>
              </a:rPr>
              <a:t>оценка к Seed</a:t>
            </a:r>
            <a:endParaRPr/>
          </a:p>
        </p:txBody>
      </p:sp>
      <p:sp>
        <p:nvSpPr>
          <p:cNvPr id="1761488389" name="Rounded Rectangle 20"/>
          <p:cNvSpPr/>
          <p:nvPr/>
        </p:nvSpPr>
        <p:spPr bwMode="auto">
          <a:xfrm>
            <a:off x="9098280" y="3154680"/>
            <a:ext cx="2194560" cy="1143000"/>
          </a:xfrm>
          <a:prstGeom prst="roundRect">
            <a:avLst>
              <a:gd name="adj" fmla="val 16667"/>
            </a:avLst>
          </a:prstGeom>
          <a:solidFill>
            <a:srgbClr val="161E42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51930089" name="TextBox 21"/>
          <p:cNvSpPr txBox="1"/>
          <p:nvPr/>
        </p:nvSpPr>
        <p:spPr bwMode="auto">
          <a:xfrm>
            <a:off x="9262872" y="3282696"/>
            <a:ext cx="1865376" cy="3291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2000" b="1">
                <a:solidFill>
                  <a:srgbClr val="F5F8FF"/>
                </a:solidFill>
                <a:latin typeface="Aptos"/>
              </a:rPr>
              <a:t>MVP</a:t>
            </a:r>
            <a:endParaRPr/>
          </a:p>
        </p:txBody>
      </p:sp>
      <p:sp>
        <p:nvSpPr>
          <p:cNvPr id="1019325135" name="TextBox 22"/>
          <p:cNvSpPr txBox="1"/>
          <p:nvPr/>
        </p:nvSpPr>
        <p:spPr bwMode="auto">
          <a:xfrm>
            <a:off x="9262872" y="3657600"/>
            <a:ext cx="1865376" cy="2103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900" b="1">
                <a:solidFill>
                  <a:srgbClr val="22D3EE"/>
                </a:solidFill>
                <a:latin typeface="Aptos"/>
              </a:rPr>
              <a:t>статус</a:t>
            </a:r>
            <a:endParaRPr/>
          </a:p>
        </p:txBody>
      </p:sp>
      <p:sp>
        <p:nvSpPr>
          <p:cNvPr id="289883833" name="TextBox 23"/>
          <p:cNvSpPr txBox="1"/>
          <p:nvPr/>
        </p:nvSpPr>
        <p:spPr bwMode="auto">
          <a:xfrm>
            <a:off x="9262872" y="3904488"/>
            <a:ext cx="1871495" cy="1771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/>
            </a:pPr>
            <a:r>
              <a:rPr sz="800" b="0">
                <a:solidFill>
                  <a:srgbClr val="ACB8D6"/>
                </a:solidFill>
                <a:latin typeface="Aptos"/>
              </a:rPr>
              <a:t>готовый web</a:t>
            </a:r>
            <a:r>
              <a:rPr lang="ru-RU" sz="800" b="0">
                <a:solidFill>
                  <a:srgbClr val="ACB8D6"/>
                </a:solidFill>
                <a:latin typeface="Aptos"/>
              </a:rPr>
              <a:t>-сервис</a:t>
            </a:r>
            <a:endParaRPr/>
          </a:p>
        </p:txBody>
      </p:sp>
      <p:sp>
        <p:nvSpPr>
          <p:cNvPr id="1680243846" name="TextBox 24"/>
          <p:cNvSpPr txBox="1"/>
          <p:nvPr/>
        </p:nvSpPr>
        <p:spPr bwMode="auto">
          <a:xfrm flipH="0" flipV="0">
            <a:off x="1143000" y="5093208"/>
            <a:ext cx="9876239" cy="54290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defRPr/>
            </a:pPr>
            <a:r>
              <a:rPr sz="1600" b="1">
                <a:solidFill>
                  <a:srgbClr val="F5F8FF"/>
                </a:solidFill>
                <a:latin typeface="Aptos"/>
              </a:rPr>
              <a:t>Следующий шаг: закрыть pre-seed, довести MVP до первых платящих пользователей и подтвердить удержание.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14</Slides>
  <Notes>14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3</cp:revision>
  <dcterms:created xsi:type="dcterms:W3CDTF">2013-01-27T09:14:16Z</dcterms:created>
  <dcterms:modified xsi:type="dcterms:W3CDTF">2026-09-24T07:12:30Z</dcterms:modified>
  <cp:category/>
</cp:coreProperties>
</file>